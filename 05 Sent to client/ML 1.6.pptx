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modernComment_12B_84D5979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97" r:id="rId3"/>
    <p:sldId id="298" r:id="rId4"/>
    <p:sldId id="299" r:id="rId5"/>
    <p:sldId id="304" r:id="rId6"/>
    <p:sldId id="301" r:id="rId7"/>
    <p:sldId id="300" r:id="rId8"/>
    <p:sldId id="305" r:id="rId9"/>
    <p:sldId id="306" r:id="rId10"/>
    <p:sldId id="307" r:id="rId11"/>
    <p:sldId id="302" r:id="rId12"/>
    <p:sldId id="30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756C055-C16E-50F2-9A1A-AE195413FEBB}" name="Akın" initials="A" userId="4f940d112899d71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4" d="100"/>
          <a:sy n="144" d="100"/>
        </p:scale>
        <p:origin x="88" y="2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microsoft.com/office/2018/10/relationships/authors" Target="author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omments/modernComment_12B_84D5979F.xml><?xml version="1.0" encoding="utf-8"?>
<p188:cmLst xmlns:a="http://schemas.openxmlformats.org/drawingml/2006/main" xmlns:r="http://schemas.openxmlformats.org/officeDocument/2006/relationships" xmlns:p188="http://schemas.microsoft.com/office/powerpoint/2018/8/main">
  <p188:cm id="{582AAB2C-CC81-492B-B128-6A90C5C3910E}" authorId="{F756C055-C16E-50F2-9A1A-AE195413FEBB}" created="2025-11-17T13:34:31.221">
    <pc:sldMkLst xmlns:pc="http://schemas.microsoft.com/office/powerpoint/2013/main/command">
      <pc:docMk/>
      <pc:sldMk cId="2228590495" sldId="299"/>
    </pc:sldMkLst>
    <p188:txBody>
      <a:bodyPr/>
      <a:lstStyle/>
      <a:p>
        <a:r>
          <a:rPr lang="en-US"/>
          <a:t>.</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4A9E0-89F0-998A-DF0B-DFD03A85A8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A2A7B8-8A46-671F-F9DA-31EBD2DEB6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8068C0-5D09-3CCE-F4F2-79D7F0CFECDF}"/>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5" name="Footer Placeholder 4">
            <a:extLst>
              <a:ext uri="{FF2B5EF4-FFF2-40B4-BE49-F238E27FC236}">
                <a16:creationId xmlns:a16="http://schemas.microsoft.com/office/drawing/2014/main" id="{7103D3BD-FBC5-D275-DC71-78264BCD26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B45923-B812-9FC7-2AD8-43F6E33D0619}"/>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3936584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2F2DF-FDD3-B82F-07FD-117928FAC1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167A45-F30F-8359-0128-ED69BAC150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337FB1-CCD1-82B3-804B-42BF8FE0F6DE}"/>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5" name="Footer Placeholder 4">
            <a:extLst>
              <a:ext uri="{FF2B5EF4-FFF2-40B4-BE49-F238E27FC236}">
                <a16:creationId xmlns:a16="http://schemas.microsoft.com/office/drawing/2014/main" id="{28982F51-DC9D-0B37-5E5E-FFE7FDEBAE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58C6A-1B58-A8B8-7926-E74B8D7BB89E}"/>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2056025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FC98B-73E4-297D-7E5E-F66C9B374A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42B0A0-B4ED-07C1-0CC4-430706950C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D7E7A4-CAD9-8071-961E-597B6EA41F6D}"/>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5" name="Footer Placeholder 4">
            <a:extLst>
              <a:ext uri="{FF2B5EF4-FFF2-40B4-BE49-F238E27FC236}">
                <a16:creationId xmlns:a16="http://schemas.microsoft.com/office/drawing/2014/main" id="{B6A71D51-8ABA-E90D-BEBC-6149527DFF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E2D574-D4AA-FE01-BF06-D4C320DDD524}"/>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1727063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803D-1B6F-0AFB-3753-1C9AAB160E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9D6933-454B-1122-CBC8-69F50CF796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3418D6-199C-DCFC-6C0E-9B95D17FFC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26EDEF-36AD-DC45-97DC-1E3E2A0D2ABC}"/>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6" name="Footer Placeholder 5">
            <a:extLst>
              <a:ext uri="{FF2B5EF4-FFF2-40B4-BE49-F238E27FC236}">
                <a16:creationId xmlns:a16="http://schemas.microsoft.com/office/drawing/2014/main" id="{69754220-9845-8455-A336-35A0E5ABEC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1CFF7A-5AF9-8D6B-EE73-3D9EE24D4EE4}"/>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2851898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29D9B-DE7F-8E62-A9B5-4604170BA2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04C9F2-B9C9-4CD1-79A7-6A508EE41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9D4949-E262-37AD-7824-2CCEB70080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E09FD8-D50B-CD5A-B372-44BF26BE9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D9E2E4-5820-9839-9970-77111CC691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D41E11-0E87-20E5-BBD6-D384CFA1C865}"/>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8" name="Footer Placeholder 7">
            <a:extLst>
              <a:ext uri="{FF2B5EF4-FFF2-40B4-BE49-F238E27FC236}">
                <a16:creationId xmlns:a16="http://schemas.microsoft.com/office/drawing/2014/main" id="{5AAD5A29-34B3-0AD0-0CF1-012F4E0617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749ED7-6C30-B7DA-A9BC-91A19FB6A87D}"/>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2840864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F9E49-7FBA-2972-7A9D-A0BA5D138F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F3665F-0322-BFC7-94CA-07ACDC396014}"/>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4" name="Footer Placeholder 3">
            <a:extLst>
              <a:ext uri="{FF2B5EF4-FFF2-40B4-BE49-F238E27FC236}">
                <a16:creationId xmlns:a16="http://schemas.microsoft.com/office/drawing/2014/main" id="{EB8112B6-85CD-AF96-B51B-49FE38DB69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0E00EF-646E-316F-5066-82B1C02845E9}"/>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3462490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2CDC48-1156-33B0-964C-094F0F0C00DB}"/>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3" name="Footer Placeholder 2">
            <a:extLst>
              <a:ext uri="{FF2B5EF4-FFF2-40B4-BE49-F238E27FC236}">
                <a16:creationId xmlns:a16="http://schemas.microsoft.com/office/drawing/2014/main" id="{421854E4-4480-5FAA-2082-80A94D8AC8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A716D1-CC83-5971-7F9B-E65BECCC71AB}"/>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4285798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47CD7-F364-B4D6-53A3-72B3DB97D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97BF27-C595-4CD4-462E-CDFF8D6597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B3C799-6516-019E-B8A0-941EC4DD47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99257A-73BB-D2DB-363E-9249419A9502}"/>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6" name="Footer Placeholder 5">
            <a:extLst>
              <a:ext uri="{FF2B5EF4-FFF2-40B4-BE49-F238E27FC236}">
                <a16:creationId xmlns:a16="http://schemas.microsoft.com/office/drawing/2014/main" id="{0BBB46D9-5111-674A-E58A-BAD3579DC9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7727F7-8B34-AF3C-B05B-10893727B204}"/>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1309308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92109-C8F1-C7B4-391E-96A758E3CF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E1F63B-ED9E-9303-A7BD-7A1C9F634F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A7A37D-FCFF-2B8B-79F5-6DD117523A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C214A-0407-4895-9A8C-B50FCAE9046F}"/>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6" name="Footer Placeholder 5">
            <a:extLst>
              <a:ext uri="{FF2B5EF4-FFF2-40B4-BE49-F238E27FC236}">
                <a16:creationId xmlns:a16="http://schemas.microsoft.com/office/drawing/2014/main" id="{82D9C8A2-2306-3AF4-FA90-8A304A7BA3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93FED5-7CAB-122F-C6B6-DF1B5711B59A}"/>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296982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ED944-F7D4-C1D5-682A-2DE837B80B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2C7379-106B-3E51-791A-3307F40E63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36BB8-7362-7AE4-7FB9-2BE33B4950C1}"/>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5" name="Footer Placeholder 4">
            <a:extLst>
              <a:ext uri="{FF2B5EF4-FFF2-40B4-BE49-F238E27FC236}">
                <a16:creationId xmlns:a16="http://schemas.microsoft.com/office/drawing/2014/main" id="{B6EA39BD-5877-5F32-5D00-1EE063D81C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68EC38-4EBA-2BF6-7CB5-65D7B53921AF}"/>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585363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63BCD3-67A9-F00A-4627-4118DF8C6E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AD7EAFA-3EF4-9537-2FE0-DBD1DB09C3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7A8CED-1BB4-1DDF-C07F-A0281E620990}"/>
              </a:ext>
            </a:extLst>
          </p:cNvPr>
          <p:cNvSpPr>
            <a:spLocks noGrp="1"/>
          </p:cNvSpPr>
          <p:nvPr>
            <p:ph type="dt" sz="half" idx="10"/>
          </p:nvPr>
        </p:nvSpPr>
        <p:spPr/>
        <p:txBody>
          <a:bodyPr/>
          <a:lstStyle/>
          <a:p>
            <a:fld id="{974A85B2-2C3A-46AD-B676-00F247B8EBF0}" type="datetimeFigureOut">
              <a:rPr lang="en-US" smtClean="0"/>
              <a:t>11/17/2025</a:t>
            </a:fld>
            <a:endParaRPr lang="en-US"/>
          </a:p>
        </p:txBody>
      </p:sp>
      <p:sp>
        <p:nvSpPr>
          <p:cNvPr id="5" name="Footer Placeholder 4">
            <a:extLst>
              <a:ext uri="{FF2B5EF4-FFF2-40B4-BE49-F238E27FC236}">
                <a16:creationId xmlns:a16="http://schemas.microsoft.com/office/drawing/2014/main" id="{BDFD9C9E-385B-BF3A-A3DE-7CC219E7AF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749D6D-0533-1CE7-BDAA-7D6AF85E433B}"/>
              </a:ext>
            </a:extLst>
          </p:cNvPr>
          <p:cNvSpPr>
            <a:spLocks noGrp="1"/>
          </p:cNvSpPr>
          <p:nvPr>
            <p:ph type="sldNum" sz="quarter" idx="12"/>
          </p:nvPr>
        </p:nvSpPr>
        <p:spPr/>
        <p:txBody>
          <a:bodyPr/>
          <a:lstStyle/>
          <a:p>
            <a:fld id="{098E921D-6C02-4FB7-8968-530852FAB5C5}" type="slidenum">
              <a:rPr lang="en-US" smtClean="0"/>
              <a:t>‹#›</a:t>
            </a:fld>
            <a:endParaRPr lang="en-US"/>
          </a:p>
        </p:txBody>
      </p:sp>
    </p:spTree>
    <p:extLst>
      <p:ext uri="{BB962C8B-B14F-4D97-AF65-F5344CB8AC3E}">
        <p14:creationId xmlns:p14="http://schemas.microsoft.com/office/powerpoint/2010/main" val="1869499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1"/>
            <a:ext cx="10363200" cy="307777"/>
          </a:xfrm>
          <a:prstGeom prst="rect">
            <a:avLst/>
          </a:prstGeom>
        </p:spPr>
        <p:txBody>
          <a:bodyPr wrap="square" lIns="0" tIns="0" rIns="0" bIns="0">
            <a:spAutoFit/>
          </a:bodyPr>
          <a:lstStyle>
            <a:lvl1pPr>
              <a:defRPr sz="2000" b="1" i="0">
                <a:solidFill>
                  <a:schemeClr val="bg1"/>
                </a:solidFill>
                <a:latin typeface="Trebuchet MS"/>
                <a:cs typeface="Trebuchet MS"/>
              </a:defRPr>
            </a:lvl1pPr>
          </a:lstStyle>
          <a:p>
            <a:endParaRPr/>
          </a:p>
        </p:txBody>
      </p:sp>
      <p:sp>
        <p:nvSpPr>
          <p:cNvPr id="3" name="Holder 3"/>
          <p:cNvSpPr>
            <a:spLocks noGrp="1"/>
          </p:cNvSpPr>
          <p:nvPr>
            <p:ph type="subTitle" idx="4"/>
          </p:nvPr>
        </p:nvSpPr>
        <p:spPr>
          <a:xfrm>
            <a:off x="1828800" y="3840481"/>
            <a:ext cx="8534400" cy="328231"/>
          </a:xfrm>
          <a:prstGeom prst="rect">
            <a:avLst/>
          </a:prstGeom>
        </p:spPr>
        <p:txBody>
          <a:bodyPr wrap="square" lIns="0" tIns="0" rIns="0" bIns="0">
            <a:spAutoFit/>
          </a:bodyPr>
          <a:lstStyle>
            <a:lvl1pPr>
              <a:defRPr sz="2133" b="0" i="0">
                <a:solidFill>
                  <a:schemeClr val="bg1"/>
                </a:solidFill>
                <a:latin typeface="SimSun-ExtB"/>
                <a:cs typeface="SimSun-ExtB"/>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49978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69497" y="688509"/>
            <a:ext cx="7853003" cy="307777"/>
          </a:xfrm>
        </p:spPr>
        <p:txBody>
          <a:bodyPr lIns="0" tIns="0" rIns="0" bIns="0"/>
          <a:lstStyle>
            <a:lvl1pPr>
              <a:defRPr sz="2000" b="1"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1065310" y="1925998"/>
            <a:ext cx="9473353" cy="328231"/>
          </a:xfrm>
        </p:spPr>
        <p:txBody>
          <a:bodyPr lIns="0" tIns="0" rIns="0" bIns="0"/>
          <a:lstStyle>
            <a:lvl1pPr>
              <a:defRPr sz="2133" b="0" i="0">
                <a:solidFill>
                  <a:schemeClr val="bg1"/>
                </a:solidFill>
                <a:latin typeface="SimSun-ExtB"/>
                <a:cs typeface="SimSun-ExtB"/>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88228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169497" y="688509"/>
            <a:ext cx="7853003" cy="307777"/>
          </a:xfrm>
        </p:spPr>
        <p:txBody>
          <a:bodyPr lIns="0" tIns="0" rIns="0" bIns="0"/>
          <a:lstStyle>
            <a:lvl1pPr>
              <a:defRPr sz="2000" b="1" i="0">
                <a:solidFill>
                  <a:schemeClr val="bg1"/>
                </a:solidFill>
                <a:latin typeface="Trebuchet MS"/>
                <a:cs typeface="Trebuchet MS"/>
              </a:defRPr>
            </a:lvl1pPr>
          </a:lstStyle>
          <a:p>
            <a:endParaRPr/>
          </a:p>
        </p:txBody>
      </p:sp>
      <p:sp>
        <p:nvSpPr>
          <p:cNvPr id="3" name="Holder 3"/>
          <p:cNvSpPr>
            <a:spLocks noGrp="1"/>
          </p:cNvSpPr>
          <p:nvPr>
            <p:ph sz="half" idx="2"/>
          </p:nvPr>
        </p:nvSpPr>
        <p:spPr>
          <a:xfrm>
            <a:off x="1795611" y="1336378"/>
            <a:ext cx="3201247" cy="318100"/>
          </a:xfrm>
          <a:prstGeom prst="rect">
            <a:avLst/>
          </a:prstGeom>
        </p:spPr>
        <p:txBody>
          <a:bodyPr wrap="square" lIns="0" tIns="0" rIns="0" bIns="0">
            <a:spAutoFit/>
          </a:bodyPr>
          <a:lstStyle>
            <a:lvl1pPr>
              <a:defRPr sz="2067" b="1" i="0">
                <a:solidFill>
                  <a:schemeClr val="bg1"/>
                </a:solidFill>
                <a:latin typeface="Calibri"/>
                <a:cs typeface="Calibri"/>
              </a:defRPr>
            </a:lvl1pPr>
          </a:lstStyle>
          <a:p>
            <a:endParaRPr/>
          </a:p>
        </p:txBody>
      </p:sp>
      <p:sp>
        <p:nvSpPr>
          <p:cNvPr id="4" name="Holder 4"/>
          <p:cNvSpPr>
            <a:spLocks noGrp="1"/>
          </p:cNvSpPr>
          <p:nvPr>
            <p:ph sz="half" idx="3"/>
          </p:nvPr>
        </p:nvSpPr>
        <p:spPr>
          <a:xfrm>
            <a:off x="6278880" y="1577340"/>
            <a:ext cx="5303520" cy="24622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0770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169497" y="688509"/>
            <a:ext cx="7853003" cy="307777"/>
          </a:xfrm>
        </p:spPr>
        <p:txBody>
          <a:bodyPr lIns="0" tIns="0" rIns="0" bIns="0"/>
          <a:lstStyle>
            <a:lvl1pPr>
              <a:defRPr sz="2000" b="1"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18365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349" y="-6349"/>
            <a:ext cx="12204700" cy="6870697"/>
          </a:xfrm>
          <a:prstGeom prst="rect">
            <a:avLst/>
          </a:prstGeom>
        </p:spPr>
      </p:pic>
      <p:sp>
        <p:nvSpPr>
          <p:cNvPr id="17" name="bg object 17"/>
          <p:cNvSpPr/>
          <p:nvPr/>
        </p:nvSpPr>
        <p:spPr>
          <a:xfrm>
            <a:off x="955733" y="6473561"/>
            <a:ext cx="10261600" cy="0"/>
          </a:xfrm>
          <a:custGeom>
            <a:avLst/>
            <a:gdLst/>
            <a:ahLst/>
            <a:cxnLst/>
            <a:rect l="l" t="t" r="r" b="b"/>
            <a:pathLst>
              <a:path w="7696200">
                <a:moveTo>
                  <a:pt x="0" y="0"/>
                </a:moveTo>
                <a:lnTo>
                  <a:pt x="7695933" y="0"/>
                </a:lnTo>
              </a:path>
            </a:pathLst>
          </a:custGeom>
          <a:ln w="19050">
            <a:solidFill>
              <a:srgbClr val="71FFDD"/>
            </a:solidFill>
          </a:ln>
        </p:spPr>
        <p:txBody>
          <a:bodyPr wrap="square" lIns="0" tIns="0" rIns="0" bIns="0" rtlCol="0"/>
          <a:lstStyle/>
          <a:p>
            <a:endParaRPr sz="240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606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03DECB-A447-E840-9B7B-068D7D7585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BEC9BA-8CF2-F110-ED5E-DD09DE6A2C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E798E5-1E73-7BF9-5EA7-F79F23DD95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4A85B2-2C3A-46AD-B676-00F247B8EBF0}" type="datetimeFigureOut">
              <a:rPr lang="en-US" smtClean="0"/>
              <a:t>11/17/2025</a:t>
            </a:fld>
            <a:endParaRPr lang="en-US"/>
          </a:p>
        </p:txBody>
      </p:sp>
      <p:sp>
        <p:nvSpPr>
          <p:cNvPr id="5" name="Footer Placeholder 4">
            <a:extLst>
              <a:ext uri="{FF2B5EF4-FFF2-40B4-BE49-F238E27FC236}">
                <a16:creationId xmlns:a16="http://schemas.microsoft.com/office/drawing/2014/main" id="{2C993818-9608-175A-5324-0360A9559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A06F39-1BE9-6B51-2E74-3980821F22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8E921D-6C02-4FB7-8968-530852FAB5C5}" type="slidenum">
              <a:rPr lang="en-US" smtClean="0"/>
              <a:t>‹#›</a:t>
            </a:fld>
            <a:endParaRPr lang="en-US"/>
          </a:p>
        </p:txBody>
      </p:sp>
    </p:spTree>
    <p:extLst>
      <p:ext uri="{BB962C8B-B14F-4D97-AF65-F5344CB8AC3E}">
        <p14:creationId xmlns:p14="http://schemas.microsoft.com/office/powerpoint/2010/main" val="2181094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6349" y="-6349"/>
            <a:ext cx="12204700" cy="6870697"/>
          </a:xfrm>
          <a:prstGeom prst="rect">
            <a:avLst/>
          </a:prstGeom>
        </p:spPr>
      </p:pic>
      <p:sp>
        <p:nvSpPr>
          <p:cNvPr id="17" name="bg object 17"/>
          <p:cNvSpPr/>
          <p:nvPr/>
        </p:nvSpPr>
        <p:spPr>
          <a:xfrm>
            <a:off x="955733" y="6473561"/>
            <a:ext cx="10261600" cy="0"/>
          </a:xfrm>
          <a:custGeom>
            <a:avLst/>
            <a:gdLst/>
            <a:ahLst/>
            <a:cxnLst/>
            <a:rect l="l" t="t" r="r" b="b"/>
            <a:pathLst>
              <a:path w="7696200">
                <a:moveTo>
                  <a:pt x="0" y="0"/>
                </a:moveTo>
                <a:lnTo>
                  <a:pt x="7695933" y="0"/>
                </a:lnTo>
              </a:path>
            </a:pathLst>
          </a:custGeom>
          <a:ln w="19050">
            <a:solidFill>
              <a:srgbClr val="71FFDD"/>
            </a:solidFill>
          </a:ln>
        </p:spPr>
        <p:txBody>
          <a:bodyPr wrap="square" lIns="0" tIns="0" rIns="0" bIns="0" rtlCol="0"/>
          <a:lstStyle/>
          <a:p>
            <a:endParaRPr sz="2400"/>
          </a:p>
        </p:txBody>
      </p:sp>
      <p:sp>
        <p:nvSpPr>
          <p:cNvPr id="2" name="Holder 2"/>
          <p:cNvSpPr>
            <a:spLocks noGrp="1"/>
          </p:cNvSpPr>
          <p:nvPr>
            <p:ph type="title"/>
          </p:nvPr>
        </p:nvSpPr>
        <p:spPr>
          <a:xfrm>
            <a:off x="2169497" y="688509"/>
            <a:ext cx="7853003" cy="230832"/>
          </a:xfrm>
          <a:prstGeom prst="rect">
            <a:avLst/>
          </a:prstGeom>
        </p:spPr>
        <p:txBody>
          <a:bodyPr wrap="square" lIns="0" tIns="0" rIns="0" bIns="0">
            <a:spAutoFit/>
          </a:bodyPr>
          <a:lstStyle>
            <a:lvl1pPr>
              <a:defRPr sz="1500" b="1"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1065310" y="1925998"/>
            <a:ext cx="9473353" cy="246221"/>
          </a:xfrm>
          <a:prstGeom prst="rect">
            <a:avLst/>
          </a:prstGeom>
        </p:spPr>
        <p:txBody>
          <a:bodyPr wrap="square" lIns="0" tIns="0" rIns="0" bIns="0">
            <a:spAutoFit/>
          </a:bodyPr>
          <a:lstStyle>
            <a:lvl1pPr>
              <a:defRPr sz="1600" b="0" i="0">
                <a:solidFill>
                  <a:schemeClr val="bg1"/>
                </a:solidFill>
                <a:latin typeface="SimSun-ExtB"/>
                <a:cs typeface="SimSun-ExtB"/>
              </a:defRPr>
            </a:lvl1pPr>
          </a:lstStyle>
          <a:p>
            <a:endParaRPr/>
          </a:p>
        </p:txBody>
      </p:sp>
      <p:sp>
        <p:nvSpPr>
          <p:cNvPr id="4" name="Holder 4"/>
          <p:cNvSpPr>
            <a:spLocks noGrp="1"/>
          </p:cNvSpPr>
          <p:nvPr>
            <p:ph type="ftr" sz="quarter" idx="5"/>
          </p:nvPr>
        </p:nvSpPr>
        <p:spPr>
          <a:xfrm>
            <a:off x="4145280" y="6377941"/>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1"/>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6" name="Holder 6"/>
          <p:cNvSpPr>
            <a:spLocks noGrp="1"/>
          </p:cNvSpPr>
          <p:nvPr>
            <p:ph type="sldNum" sz="quarter" idx="7"/>
          </p:nvPr>
        </p:nvSpPr>
        <p:spPr>
          <a:xfrm>
            <a:off x="8778240" y="6377941"/>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156465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bodyStyle>
    <p:other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kaan@kaanarslan.com" TargetMode="External"/><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2B_84D5979F.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hyperlink" Target="https://public.tableau.com/app/profile/kaan.arslan6544/vizzes" TargetMode="External"/><Relationship Id="rId3" Type="http://schemas.openxmlformats.org/officeDocument/2006/relationships/hyperlink" Target="https://bit.ly/3A1uf1Q" TargetMode="External"/><Relationship Id="rId7" Type="http://schemas.openxmlformats.org/officeDocument/2006/relationships/hyperlink" Target="https://github.com/arslankaan-hub" TargetMode="External"/><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hyperlink" Target="mailto:kaan@kaanarslan.com" TargetMode="Externa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1727F67-0DC0-977E-A487-6754E48AB6E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FD337115-AF50-9A6C-CEC2-A8389E0C97CC}"/>
              </a:ext>
            </a:extLst>
          </p:cNvPr>
          <p:cNvGrpSpPr/>
          <p:nvPr/>
        </p:nvGrpSpPr>
        <p:grpSpPr>
          <a:xfrm>
            <a:off x="-6349" y="-6349"/>
            <a:ext cx="12204700" cy="6870700"/>
            <a:chOff x="-4762" y="-4762"/>
            <a:chExt cx="9153525" cy="5153025"/>
          </a:xfrm>
        </p:grpSpPr>
        <p:pic>
          <p:nvPicPr>
            <p:cNvPr id="3" name="object 3">
              <a:extLst>
                <a:ext uri="{FF2B5EF4-FFF2-40B4-BE49-F238E27FC236}">
                  <a16:creationId xmlns:a16="http://schemas.microsoft.com/office/drawing/2014/main" id="{F5B7D1DF-C7B5-7CE1-BBF2-E4FDB0B166C2}"/>
                </a:ext>
              </a:extLst>
            </p:cNvPr>
            <p:cNvPicPr/>
            <p:nvPr/>
          </p:nvPicPr>
          <p:blipFill>
            <a:blip r:embed="rId2" cstate="print"/>
            <a:stretch>
              <a:fillRect/>
            </a:stretch>
          </p:blipFill>
          <p:spPr>
            <a:xfrm>
              <a:off x="-4762" y="-4762"/>
              <a:ext cx="9153525" cy="5153023"/>
            </a:xfrm>
            <a:prstGeom prst="rect">
              <a:avLst/>
            </a:prstGeom>
          </p:spPr>
        </p:pic>
        <p:sp>
          <p:nvSpPr>
            <p:cNvPr id="4" name="object 4">
              <a:extLst>
                <a:ext uri="{FF2B5EF4-FFF2-40B4-BE49-F238E27FC236}">
                  <a16:creationId xmlns:a16="http://schemas.microsoft.com/office/drawing/2014/main" id="{CBA0CD06-C3CB-9C63-9B97-355A838AE17B}"/>
                </a:ext>
              </a:extLst>
            </p:cNvPr>
            <p:cNvSpPr/>
            <p:nvPr/>
          </p:nvSpPr>
          <p:spPr>
            <a:xfrm>
              <a:off x="716800" y="4855171"/>
              <a:ext cx="7696200" cy="0"/>
            </a:xfrm>
            <a:custGeom>
              <a:avLst/>
              <a:gdLst/>
              <a:ahLst/>
              <a:cxnLst/>
              <a:rect l="l" t="t" r="r" b="b"/>
              <a:pathLst>
                <a:path w="7696200">
                  <a:moveTo>
                    <a:pt x="0" y="0"/>
                  </a:moveTo>
                  <a:lnTo>
                    <a:pt x="7695933" y="0"/>
                  </a:lnTo>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grpSp>
      <p:sp>
        <p:nvSpPr>
          <p:cNvPr id="5" name="object 5">
            <a:extLst>
              <a:ext uri="{FF2B5EF4-FFF2-40B4-BE49-F238E27FC236}">
                <a16:creationId xmlns:a16="http://schemas.microsoft.com/office/drawing/2014/main" id="{0D9410CE-5AC3-B01D-71A4-EF80906A7029}"/>
              </a:ext>
            </a:extLst>
          </p:cNvPr>
          <p:cNvSpPr txBox="1">
            <a:spLocks noGrp="1"/>
          </p:cNvSpPr>
          <p:nvPr>
            <p:ph type="title"/>
          </p:nvPr>
        </p:nvSpPr>
        <p:spPr>
          <a:xfrm>
            <a:off x="2438400" y="2109384"/>
            <a:ext cx="6663267" cy="1987916"/>
          </a:xfrm>
          <a:prstGeom prst="rect">
            <a:avLst/>
          </a:prstGeom>
        </p:spPr>
        <p:txBody>
          <a:bodyPr vert="horz" wrap="square" lIns="0" tIns="17780" rIns="0" bIns="0" rtlCol="0">
            <a:spAutoFit/>
          </a:bodyPr>
          <a:lstStyle/>
          <a:p>
            <a:pPr marL="16933">
              <a:spcBef>
                <a:spcPts val="140"/>
              </a:spcBef>
            </a:pPr>
            <a:r>
              <a:rPr lang="en-US" sz="4267" dirty="0">
                <a:latin typeface="Arial" panose="020B0604020202020204" pitchFamily="34" charset="0"/>
                <a:cs typeface="Arial" panose="020B0604020202020204" pitchFamily="34" charset="0"/>
              </a:rPr>
              <a:t>Weather Conditions and Climate Change with </a:t>
            </a:r>
            <a:r>
              <a:rPr lang="en-US" sz="4267" dirty="0" err="1">
                <a:latin typeface="Arial" panose="020B0604020202020204" pitchFamily="34" charset="0"/>
                <a:cs typeface="Arial" panose="020B0604020202020204" pitchFamily="34" charset="0"/>
              </a:rPr>
              <a:t>ClimateWins</a:t>
            </a:r>
            <a:endParaRPr sz="4267" dirty="0">
              <a:latin typeface="Arial" panose="020B0604020202020204" pitchFamily="34" charset="0"/>
              <a:cs typeface="Arial" panose="020B0604020202020204" pitchFamily="34" charset="0"/>
            </a:endParaRPr>
          </a:p>
        </p:txBody>
      </p:sp>
      <p:sp>
        <p:nvSpPr>
          <p:cNvPr id="7" name="object 7">
            <a:extLst>
              <a:ext uri="{FF2B5EF4-FFF2-40B4-BE49-F238E27FC236}">
                <a16:creationId xmlns:a16="http://schemas.microsoft.com/office/drawing/2014/main" id="{2F4BD5EB-1606-C145-64E3-083D7C0F2E25}"/>
              </a:ext>
            </a:extLst>
          </p:cNvPr>
          <p:cNvSpPr txBox="1"/>
          <p:nvPr/>
        </p:nvSpPr>
        <p:spPr>
          <a:xfrm>
            <a:off x="1076283" y="880364"/>
            <a:ext cx="3285067" cy="344475"/>
          </a:xfrm>
          <a:prstGeom prst="rect">
            <a:avLst/>
          </a:prstGeom>
        </p:spPr>
        <p:txBody>
          <a:bodyPr vert="horz" wrap="square" lIns="0" tIns="16087" rIns="0" bIns="0" rtlCol="0">
            <a:spAutoFit/>
          </a:bodyPr>
          <a:lstStyle/>
          <a:p>
            <a:pPr marL="16933" defTabSz="1219170">
              <a:spcBef>
                <a:spcPts val="127"/>
              </a:spcBef>
            </a:pPr>
            <a:r>
              <a:rPr lang="tr-TR" sz="2133" kern="0" dirty="0">
                <a:solidFill>
                  <a:srgbClr val="71FFDD"/>
                </a:solidFill>
                <a:latin typeface="Arial" panose="020B0604020202020204" pitchFamily="34" charset="0"/>
                <a:cs typeface="Arial" panose="020B0604020202020204" pitchFamily="34" charset="0"/>
              </a:rPr>
              <a:t>Kaan ARSLAN</a:t>
            </a:r>
            <a:endParaRPr sz="2133" kern="0" dirty="0">
              <a:solidFill>
                <a:sysClr val="windowText" lastClr="000000"/>
              </a:solidFill>
              <a:latin typeface="Arial" panose="020B0604020202020204" pitchFamily="34" charset="0"/>
              <a:cs typeface="Arial" panose="020B0604020202020204" pitchFamily="34" charset="0"/>
            </a:endParaRPr>
          </a:p>
        </p:txBody>
      </p:sp>
      <p:sp>
        <p:nvSpPr>
          <p:cNvPr id="8" name="object 8">
            <a:extLst>
              <a:ext uri="{FF2B5EF4-FFF2-40B4-BE49-F238E27FC236}">
                <a16:creationId xmlns:a16="http://schemas.microsoft.com/office/drawing/2014/main" id="{2323DB3E-22CD-5D7C-7694-1E56DC356C52}"/>
              </a:ext>
            </a:extLst>
          </p:cNvPr>
          <p:cNvSpPr txBox="1"/>
          <p:nvPr/>
        </p:nvSpPr>
        <p:spPr>
          <a:xfrm>
            <a:off x="10850402" y="3425614"/>
            <a:ext cx="307777" cy="2606885"/>
          </a:xfrm>
          <a:prstGeom prst="rect">
            <a:avLst/>
          </a:prstGeom>
        </p:spPr>
        <p:txBody>
          <a:bodyPr vert="vert" wrap="square" lIns="0" tIns="0" rIns="0" bIns="0" rtlCol="0">
            <a:spAutoFit/>
          </a:bodyPr>
          <a:lstStyle/>
          <a:p>
            <a:pPr marL="16933" defTabSz="1219170">
              <a:lnSpc>
                <a:spcPts val="2385"/>
              </a:lnSpc>
            </a:pPr>
            <a:r>
              <a:rPr sz="2133" kern="0" spc="-13" dirty="0">
                <a:solidFill>
                  <a:srgbClr val="71FFDD"/>
                </a:solidFill>
                <a:latin typeface="SimSun-ExtB"/>
                <a:cs typeface="SimSun-ExtB"/>
                <a:hlinkClick r:id="rId3"/>
              </a:rPr>
              <a:t>kaan@kaanarslan.com</a:t>
            </a:r>
            <a:endParaRPr sz="2133" kern="0">
              <a:solidFill>
                <a:sysClr val="windowText" lastClr="000000"/>
              </a:solidFill>
              <a:latin typeface="SimSun-ExtB"/>
              <a:cs typeface="SimSun-ExtB"/>
            </a:endParaRPr>
          </a:p>
        </p:txBody>
      </p:sp>
      <p:sp>
        <p:nvSpPr>
          <p:cNvPr id="9" name="object 9">
            <a:extLst>
              <a:ext uri="{FF2B5EF4-FFF2-40B4-BE49-F238E27FC236}">
                <a16:creationId xmlns:a16="http://schemas.microsoft.com/office/drawing/2014/main" id="{8239DB81-CDFC-0A7F-7E02-DE76ADB07AB6}"/>
              </a:ext>
            </a:extLst>
          </p:cNvPr>
          <p:cNvSpPr/>
          <p:nvPr/>
        </p:nvSpPr>
        <p:spPr>
          <a:xfrm>
            <a:off x="11010729" y="957580"/>
            <a:ext cx="0" cy="2153073"/>
          </a:xfrm>
          <a:custGeom>
            <a:avLst/>
            <a:gdLst/>
            <a:ahLst/>
            <a:cxnLst/>
            <a:rect l="l" t="t" r="r" b="b"/>
            <a:pathLst>
              <a:path h="1614805">
                <a:moveTo>
                  <a:pt x="0" y="1614551"/>
                </a:moveTo>
                <a:lnTo>
                  <a:pt x="0" y="0"/>
                </a:lnTo>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spTree>
    <p:extLst>
      <p:ext uri="{BB962C8B-B14F-4D97-AF65-F5344CB8AC3E}">
        <p14:creationId xmlns:p14="http://schemas.microsoft.com/office/powerpoint/2010/main" val="1732303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EC26CDD-A729-2E15-C8FE-C7EF0E1215A6}"/>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6A0DC6A-10B2-91CA-0996-69F08AB070AD}"/>
              </a:ext>
            </a:extLst>
          </p:cNvPr>
          <p:cNvGrpSpPr/>
          <p:nvPr/>
        </p:nvGrpSpPr>
        <p:grpSpPr>
          <a:xfrm>
            <a:off x="-6350" y="-12699"/>
            <a:ext cx="12204700" cy="6870700"/>
            <a:chOff x="-4762" y="-4762"/>
            <a:chExt cx="9153525" cy="5153025"/>
          </a:xfrm>
        </p:grpSpPr>
        <p:pic>
          <p:nvPicPr>
            <p:cNvPr id="3" name="object 3">
              <a:extLst>
                <a:ext uri="{FF2B5EF4-FFF2-40B4-BE49-F238E27FC236}">
                  <a16:creationId xmlns:a16="http://schemas.microsoft.com/office/drawing/2014/main" id="{3D72EB29-55FB-555E-640B-09B2940089BD}"/>
                </a:ext>
              </a:extLst>
            </p:cNvPr>
            <p:cNvPicPr/>
            <p:nvPr/>
          </p:nvPicPr>
          <p:blipFill>
            <a:blip r:embed="rId2" cstate="print"/>
            <a:stretch>
              <a:fillRect/>
            </a:stretch>
          </p:blipFill>
          <p:spPr>
            <a:xfrm>
              <a:off x="-4762" y="-4762"/>
              <a:ext cx="9153525" cy="5153023"/>
            </a:xfrm>
            <a:prstGeom prst="rect">
              <a:avLst/>
            </a:prstGeom>
          </p:spPr>
        </p:pic>
        <p:sp>
          <p:nvSpPr>
            <p:cNvPr id="4" name="object 4">
              <a:extLst>
                <a:ext uri="{FF2B5EF4-FFF2-40B4-BE49-F238E27FC236}">
                  <a16:creationId xmlns:a16="http://schemas.microsoft.com/office/drawing/2014/main" id="{3FF807EC-3168-38D4-45A6-DA4BEC75C8D8}"/>
                </a:ext>
              </a:extLst>
            </p:cNvPr>
            <p:cNvSpPr/>
            <p:nvPr/>
          </p:nvSpPr>
          <p:spPr>
            <a:xfrm>
              <a:off x="716800" y="4855171"/>
              <a:ext cx="7696200" cy="0"/>
            </a:xfrm>
            <a:custGeom>
              <a:avLst/>
              <a:gdLst/>
              <a:ahLst/>
              <a:cxnLst/>
              <a:rect l="l" t="t" r="r" b="b"/>
              <a:pathLst>
                <a:path w="7696200">
                  <a:moveTo>
                    <a:pt x="0" y="0"/>
                  </a:moveTo>
                  <a:lnTo>
                    <a:pt x="7695933" y="0"/>
                  </a:lnTo>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grpSp>
      <p:sp>
        <p:nvSpPr>
          <p:cNvPr id="5" name="object 5">
            <a:extLst>
              <a:ext uri="{FF2B5EF4-FFF2-40B4-BE49-F238E27FC236}">
                <a16:creationId xmlns:a16="http://schemas.microsoft.com/office/drawing/2014/main" id="{B3111345-807F-6836-1DFA-39ECAADCFC80}"/>
              </a:ext>
            </a:extLst>
          </p:cNvPr>
          <p:cNvSpPr txBox="1"/>
          <p:nvPr/>
        </p:nvSpPr>
        <p:spPr>
          <a:xfrm>
            <a:off x="1065309" y="1724518"/>
            <a:ext cx="6317827" cy="4324924"/>
          </a:xfrm>
          <a:prstGeom prst="rect">
            <a:avLst/>
          </a:prstGeom>
        </p:spPr>
        <p:txBody>
          <a:bodyPr vert="horz" wrap="square" lIns="0" tIns="16087" rIns="0" bIns="0" rtlCol="0">
            <a:spAutoFit/>
          </a:bodyPr>
          <a:lstStyle/>
          <a:p>
            <a:pPr marL="16933" defTabSz="1219170">
              <a:spcBef>
                <a:spcPts val="127"/>
              </a:spcBef>
            </a:pPr>
            <a:r>
              <a:rPr sz="1600" b="1" kern="0" spc="-13" dirty="0">
                <a:solidFill>
                  <a:srgbClr val="FFFFFF"/>
                </a:solidFill>
                <a:latin typeface="Arial" panose="020B0604020202020204" pitchFamily="34" charset="0"/>
                <a:cs typeface="Arial" panose="020B0604020202020204" pitchFamily="34" charset="0"/>
              </a:rPr>
              <a:t>Objective</a:t>
            </a:r>
            <a:endParaRPr sz="1600" b="1" kern="0" dirty="0">
              <a:solidFill>
                <a:sysClr val="windowText" lastClr="000000"/>
              </a:solidFill>
              <a:latin typeface="Arial" panose="020B0604020202020204" pitchFamily="34" charset="0"/>
              <a:cs typeface="Arial" panose="020B0604020202020204" pitchFamily="34" charset="0"/>
            </a:endParaRPr>
          </a:p>
          <a:p>
            <a:pPr marL="245527" indent="-228594" defTabSz="1219170">
              <a:buSzPct val="160000"/>
              <a:buFont typeface="Arial" panose="020B0604020202020204" pitchFamily="34" charset="0"/>
              <a:buChar char="•"/>
              <a:tabLst>
                <a:tab pos="457189" algn="l"/>
              </a:tabLst>
            </a:pPr>
            <a:r>
              <a:rPr lang="tr-TR" sz="1600" kern="0" dirty="0" err="1">
                <a:solidFill>
                  <a:prstClr val="white"/>
                </a:solidFill>
              </a:rPr>
              <a:t>To</a:t>
            </a:r>
            <a:r>
              <a:rPr lang="tr-TR" sz="1600" kern="0" dirty="0">
                <a:solidFill>
                  <a:prstClr val="white"/>
                </a:solidFill>
              </a:rPr>
              <a:t> </a:t>
            </a:r>
            <a:r>
              <a:rPr lang="tr-TR" sz="1600" kern="0" dirty="0" err="1">
                <a:solidFill>
                  <a:prstClr val="white"/>
                </a:solidFill>
              </a:rPr>
              <a:t>use</a:t>
            </a:r>
            <a:r>
              <a:rPr lang="tr-TR" sz="1600" kern="0" dirty="0">
                <a:solidFill>
                  <a:prstClr val="white"/>
                </a:solidFill>
              </a:rPr>
              <a:t> </a:t>
            </a:r>
            <a:r>
              <a:rPr lang="en-US" sz="1600" kern="0" dirty="0">
                <a:solidFill>
                  <a:prstClr val="white"/>
                </a:solidFill>
              </a:rPr>
              <a:t>machine learning to help predict the consequences of climate change while working as a data analyst at a European nonprofit organization</a:t>
            </a:r>
            <a:endParaRPr lang="tr-TR" sz="1600" kern="0" dirty="0">
              <a:solidFill>
                <a:prstClr val="white"/>
              </a:solidFill>
            </a:endParaRPr>
          </a:p>
          <a:p>
            <a:pPr marL="16933" defTabSz="1219170">
              <a:buSzPct val="160000"/>
              <a:tabLst>
                <a:tab pos="457189" algn="l"/>
              </a:tabLst>
            </a:pPr>
            <a:r>
              <a:rPr lang="tr-TR" sz="1600" b="1" kern="0" dirty="0" err="1">
                <a:solidFill>
                  <a:prstClr val="white"/>
                </a:solidFill>
                <a:latin typeface="Arial" panose="020B0604020202020204" pitchFamily="34" charset="0"/>
                <a:cs typeface="Arial" panose="020B0604020202020204" pitchFamily="34" charset="0"/>
              </a:rPr>
              <a:t>Hypotheses</a:t>
            </a:r>
            <a:endParaRPr lang="tr-TR" sz="1600" b="1" kern="0" dirty="0">
              <a:solidFill>
                <a:prstClr val="white"/>
              </a:solidFill>
              <a:latin typeface="Arial" panose="020B0604020202020204" pitchFamily="34" charset="0"/>
              <a:cs typeface="Arial" panose="020B0604020202020204" pitchFamily="34" charset="0"/>
            </a:endParaRPr>
          </a:p>
          <a:p>
            <a:pPr marL="228594" indent="-228594" defTabSz="1219170">
              <a:buFont typeface="Arial" panose="020B0604020202020204" pitchFamily="34" charset="0"/>
              <a:buChar char="•"/>
            </a:pPr>
            <a:r>
              <a:rPr lang="en-US" sz="1600" kern="0" dirty="0">
                <a:solidFill>
                  <a:prstClr val="white"/>
                </a:solidFill>
                <a:latin typeface="Arial" panose="020B0604020202020204" pitchFamily="34" charset="0"/>
                <a:cs typeface="Arial" panose="020B0604020202020204" pitchFamily="34" charset="0"/>
              </a:rPr>
              <a:t>Machine learning can identify early indicators of long-term climate shifts by detecting subtle patterns in temperature variability, precipitation trends, and extreme</a:t>
            </a:r>
            <a:r>
              <a:rPr lang="tr-TR" sz="1600" kern="0" dirty="0">
                <a:solidFill>
                  <a:prstClr val="white"/>
                </a:solidFill>
                <a:latin typeface="Arial" panose="020B0604020202020204" pitchFamily="34" charset="0"/>
                <a:cs typeface="Arial" panose="020B0604020202020204" pitchFamily="34" charset="0"/>
              </a:rPr>
              <a:t> </a:t>
            </a:r>
            <a:r>
              <a:rPr lang="en-US" sz="1600" kern="0" dirty="0">
                <a:solidFill>
                  <a:prstClr val="white"/>
                </a:solidFill>
                <a:latin typeface="Arial" panose="020B0604020202020204" pitchFamily="34" charset="0"/>
                <a:cs typeface="Arial" panose="020B0604020202020204" pitchFamily="34" charset="0"/>
              </a:rPr>
              <a:t>event frequency that traditional analysis may overlook.</a:t>
            </a:r>
          </a:p>
          <a:p>
            <a:pPr marL="228594" indent="-228594" defTabSz="1219170">
              <a:buFont typeface="Arial" panose="020B0604020202020204" pitchFamily="34" charset="0"/>
              <a:buChar char="•"/>
            </a:pPr>
            <a:r>
              <a:rPr lang="en-US" sz="1600" kern="0" dirty="0">
                <a:solidFill>
                  <a:prstClr val="white"/>
                </a:solidFill>
                <a:latin typeface="Arial" panose="020B0604020202020204" pitchFamily="34" charset="0"/>
                <a:cs typeface="Arial" panose="020B0604020202020204" pitchFamily="34" charset="0"/>
              </a:rPr>
              <a:t>Machine learning can classify whether daily weather conditions will be pleasant or unpleasant by learning from historical patterns of temperature, wind speed, humidity and cloud cover.</a:t>
            </a:r>
          </a:p>
          <a:p>
            <a:pPr marL="228594" indent="-228594" defTabSz="1219170">
              <a:buFont typeface="Arial" panose="020B0604020202020204" pitchFamily="34" charset="0"/>
              <a:buChar char="•"/>
            </a:pPr>
            <a:r>
              <a:rPr lang="en-US" sz="1600" kern="0" dirty="0">
                <a:solidFill>
                  <a:prstClr val="white"/>
                </a:solidFill>
                <a:latin typeface="Arial" panose="020B0604020202020204" pitchFamily="34" charset="0"/>
                <a:cs typeface="Arial" panose="020B0604020202020204" pitchFamily="34" charset="0"/>
              </a:rPr>
              <a:t>Machine learning can estimate the probability of hazardous weather events</a:t>
            </a:r>
            <a:r>
              <a:rPr lang="tr-TR" sz="1600" kern="0" dirty="0">
                <a:solidFill>
                  <a:prstClr val="white"/>
                </a:solidFill>
                <a:latin typeface="Arial" panose="020B0604020202020204" pitchFamily="34" charset="0"/>
                <a:cs typeface="Arial" panose="020B0604020202020204" pitchFamily="34" charset="0"/>
              </a:rPr>
              <a:t>, </a:t>
            </a:r>
            <a:r>
              <a:rPr lang="en-US" sz="1600" kern="0" dirty="0">
                <a:solidFill>
                  <a:prstClr val="white"/>
                </a:solidFill>
                <a:latin typeface="Arial" panose="020B0604020202020204" pitchFamily="34" charset="0"/>
                <a:cs typeface="Arial" panose="020B0604020202020204" pitchFamily="34" charset="0"/>
              </a:rPr>
              <a:t>such as</a:t>
            </a:r>
            <a:r>
              <a:rPr lang="tr-TR" sz="1600" kern="0" dirty="0">
                <a:solidFill>
                  <a:prstClr val="white"/>
                </a:solidFill>
                <a:latin typeface="Arial" panose="020B0604020202020204" pitchFamily="34" charset="0"/>
                <a:cs typeface="Arial" panose="020B0604020202020204" pitchFamily="34" charset="0"/>
              </a:rPr>
              <a:t>;</a:t>
            </a:r>
            <a:r>
              <a:rPr lang="en-US" sz="1600" kern="0" dirty="0">
                <a:solidFill>
                  <a:prstClr val="white"/>
                </a:solidFill>
                <a:latin typeface="Arial" panose="020B0604020202020204" pitchFamily="34" charset="0"/>
                <a:cs typeface="Arial" panose="020B0604020202020204" pitchFamily="34" charset="0"/>
              </a:rPr>
              <a:t> storms, heatwaves, or sudden temperature drops</a:t>
            </a:r>
            <a:r>
              <a:rPr lang="tr-TR" sz="1600" kern="0" dirty="0">
                <a:solidFill>
                  <a:prstClr val="white"/>
                </a:solidFill>
                <a:latin typeface="Arial" panose="020B0604020202020204" pitchFamily="34" charset="0"/>
                <a:cs typeface="Arial" panose="020B0604020202020204" pitchFamily="34" charset="0"/>
              </a:rPr>
              <a:t> </a:t>
            </a:r>
            <a:r>
              <a:rPr lang="en-US" sz="1600" kern="0" dirty="0">
                <a:solidFill>
                  <a:prstClr val="white"/>
                </a:solidFill>
                <a:latin typeface="Arial" panose="020B0604020202020204" pitchFamily="34" charset="0"/>
                <a:cs typeface="Arial" panose="020B0604020202020204" pitchFamily="34" charset="0"/>
              </a:rPr>
              <a:t>by recognizing precursor signals in multivariate climate data.</a:t>
            </a:r>
          </a:p>
          <a:p>
            <a:pPr marL="16933" defTabSz="1219170">
              <a:buSzPct val="160000"/>
              <a:tabLst>
                <a:tab pos="457189" algn="l"/>
              </a:tabLst>
            </a:pPr>
            <a:endParaRPr lang="tr-TR" sz="1333" kern="0" dirty="0">
              <a:solidFill>
                <a:prstClr val="white"/>
              </a:solidFill>
              <a:latin typeface="Arial" panose="020B0604020202020204" pitchFamily="34" charset="0"/>
              <a:cs typeface="Arial" panose="020B0604020202020204" pitchFamily="34" charset="0"/>
            </a:endParaRPr>
          </a:p>
          <a:p>
            <a:pPr marL="16933" defTabSz="1219170">
              <a:buSzPct val="160000"/>
              <a:tabLst>
                <a:tab pos="457189" algn="l"/>
              </a:tabLst>
            </a:pPr>
            <a:endParaRPr lang="tr-TR" sz="1333" kern="0" dirty="0">
              <a:solidFill>
                <a:prstClr val="white"/>
              </a:solidFill>
              <a:latin typeface="Arial" panose="020B0604020202020204" pitchFamily="34" charset="0"/>
              <a:cs typeface="Arial" panose="020B0604020202020204" pitchFamily="34" charset="0"/>
            </a:endParaRPr>
          </a:p>
          <a:p>
            <a:pPr marL="16933" defTabSz="1219170">
              <a:buSzPct val="160000"/>
              <a:tabLst>
                <a:tab pos="457189" algn="l"/>
              </a:tabLst>
            </a:pPr>
            <a:endParaRPr sz="1333" kern="0" dirty="0">
              <a:solidFill>
                <a:prstClr val="white"/>
              </a:solidFill>
              <a:latin typeface="Arial" panose="020B0604020202020204" pitchFamily="34" charset="0"/>
              <a:cs typeface="Arial" panose="020B0604020202020204" pitchFamily="34" charset="0"/>
            </a:endParaRPr>
          </a:p>
        </p:txBody>
      </p:sp>
      <p:sp>
        <p:nvSpPr>
          <p:cNvPr id="6" name="object 6">
            <a:extLst>
              <a:ext uri="{FF2B5EF4-FFF2-40B4-BE49-F238E27FC236}">
                <a16:creationId xmlns:a16="http://schemas.microsoft.com/office/drawing/2014/main" id="{792EBC82-D45E-2918-B477-C8796EC24B7B}"/>
              </a:ext>
            </a:extLst>
          </p:cNvPr>
          <p:cNvSpPr txBox="1">
            <a:spLocks noGrp="1"/>
          </p:cNvSpPr>
          <p:nvPr>
            <p:ph type="title"/>
          </p:nvPr>
        </p:nvSpPr>
        <p:spPr>
          <a:xfrm>
            <a:off x="1828901" y="871935"/>
            <a:ext cx="8534400" cy="386430"/>
          </a:xfrm>
          <a:prstGeom prst="rect">
            <a:avLst/>
          </a:prstGeom>
        </p:spPr>
        <p:txBody>
          <a:bodyPr vert="horz" wrap="square" lIns="0" tIns="16933" rIns="0" bIns="0" rtlCol="0">
            <a:spAutoFit/>
          </a:bodyPr>
          <a:lstStyle/>
          <a:p>
            <a:pPr marL="548626" marR="6773" indent="-532540">
              <a:spcBef>
                <a:spcPts val="133"/>
              </a:spcBef>
            </a:pPr>
            <a:r>
              <a:rPr lang="en-US" sz="2400" dirty="0">
                <a:latin typeface="Arial" panose="020B0604020202020204" pitchFamily="34" charset="0"/>
                <a:cs typeface="Arial" panose="020B0604020202020204" pitchFamily="34" charset="0"/>
              </a:rPr>
              <a:t>Weather Conditions and Climate Change wit</a:t>
            </a:r>
            <a:r>
              <a:rPr lang="tr-TR" sz="2400" dirty="0">
                <a:latin typeface="Arial" panose="020B0604020202020204" pitchFamily="34" charset="0"/>
                <a:cs typeface="Arial" panose="020B0604020202020204" pitchFamily="34" charset="0"/>
              </a:rPr>
              <a:t>h </a:t>
            </a:r>
            <a:r>
              <a:rPr lang="en-US" sz="2400" dirty="0" err="1">
                <a:latin typeface="Arial" panose="020B0604020202020204" pitchFamily="34" charset="0"/>
                <a:cs typeface="Arial" panose="020B0604020202020204" pitchFamily="34" charset="0"/>
              </a:rPr>
              <a:t>ClimateWins</a:t>
            </a:r>
            <a:endParaRPr sz="2400" dirty="0"/>
          </a:p>
        </p:txBody>
      </p:sp>
      <p:sp>
        <p:nvSpPr>
          <p:cNvPr id="7" name="object 7">
            <a:extLst>
              <a:ext uri="{FF2B5EF4-FFF2-40B4-BE49-F238E27FC236}">
                <a16:creationId xmlns:a16="http://schemas.microsoft.com/office/drawing/2014/main" id="{B92FA53D-9B8F-E3D0-8007-2703414174CD}"/>
              </a:ext>
            </a:extLst>
          </p:cNvPr>
          <p:cNvSpPr txBox="1"/>
          <p:nvPr/>
        </p:nvSpPr>
        <p:spPr>
          <a:xfrm>
            <a:off x="10489353" y="704020"/>
            <a:ext cx="638387" cy="632651"/>
          </a:xfrm>
          <a:prstGeom prst="rect">
            <a:avLst/>
          </a:prstGeom>
        </p:spPr>
        <p:txBody>
          <a:bodyPr vert="horz" wrap="square" lIns="0" tIns="16933" rIns="0" bIns="0" rtlCol="0">
            <a:spAutoFit/>
          </a:bodyPr>
          <a:lstStyle/>
          <a:p>
            <a:pPr marL="16933" defTabSz="1219170">
              <a:spcBef>
                <a:spcPts val="133"/>
              </a:spcBef>
            </a:pPr>
            <a:r>
              <a:rPr sz="4000" b="1" kern="0" spc="-227" dirty="0">
                <a:solidFill>
                  <a:srgbClr val="71FFDD"/>
                </a:solidFill>
                <a:latin typeface="Trebuchet MS"/>
                <a:cs typeface="Trebuchet MS"/>
              </a:rPr>
              <a:t>//</a:t>
            </a:r>
            <a:r>
              <a:rPr sz="4000" b="1" kern="0" spc="-227" dirty="0">
                <a:solidFill>
                  <a:srgbClr val="71FFFF"/>
                </a:solidFill>
                <a:latin typeface="Trebuchet MS"/>
                <a:cs typeface="Trebuchet MS"/>
              </a:rPr>
              <a:t>&gt;</a:t>
            </a:r>
            <a:endParaRPr sz="4000" kern="0">
              <a:solidFill>
                <a:sysClr val="windowText" lastClr="000000"/>
              </a:solidFill>
              <a:latin typeface="Trebuchet MS"/>
              <a:cs typeface="Trebuchet MS"/>
            </a:endParaRPr>
          </a:p>
        </p:txBody>
      </p:sp>
      <p:sp>
        <p:nvSpPr>
          <p:cNvPr id="8" name="object 8">
            <a:extLst>
              <a:ext uri="{FF2B5EF4-FFF2-40B4-BE49-F238E27FC236}">
                <a16:creationId xmlns:a16="http://schemas.microsoft.com/office/drawing/2014/main" id="{92B815C9-733B-C84C-3A8A-9C3DC8BAC148}"/>
              </a:ext>
            </a:extLst>
          </p:cNvPr>
          <p:cNvSpPr txBox="1"/>
          <p:nvPr/>
        </p:nvSpPr>
        <p:spPr>
          <a:xfrm>
            <a:off x="1065310" y="704020"/>
            <a:ext cx="637540" cy="632651"/>
          </a:xfrm>
          <a:prstGeom prst="rect">
            <a:avLst/>
          </a:prstGeom>
        </p:spPr>
        <p:txBody>
          <a:bodyPr vert="horz" wrap="square" lIns="0" tIns="16933" rIns="0" bIns="0" rtlCol="0">
            <a:spAutoFit/>
          </a:bodyPr>
          <a:lstStyle/>
          <a:p>
            <a:pPr marL="16933" defTabSz="1219170">
              <a:spcBef>
                <a:spcPts val="133"/>
              </a:spcBef>
            </a:pPr>
            <a:r>
              <a:rPr sz="4000" b="1" kern="0" spc="-233" dirty="0">
                <a:solidFill>
                  <a:srgbClr val="71FFFF"/>
                </a:solidFill>
                <a:latin typeface="Trebuchet MS"/>
                <a:cs typeface="Trebuchet MS"/>
              </a:rPr>
              <a:t>&lt;</a:t>
            </a:r>
            <a:r>
              <a:rPr sz="4000" b="1" kern="0" spc="-233" dirty="0">
                <a:solidFill>
                  <a:srgbClr val="71FFDD"/>
                </a:solidFill>
                <a:latin typeface="Trebuchet MS"/>
                <a:cs typeface="Trebuchet MS"/>
              </a:rPr>
              <a:t>//</a:t>
            </a:r>
            <a:endParaRPr sz="4000" kern="0">
              <a:solidFill>
                <a:sysClr val="windowText" lastClr="000000"/>
              </a:solidFill>
              <a:latin typeface="Trebuchet MS"/>
              <a:cs typeface="Trebuchet MS"/>
            </a:endParaRPr>
          </a:p>
        </p:txBody>
      </p:sp>
      <p:sp>
        <p:nvSpPr>
          <p:cNvPr id="10" name="object 10">
            <a:extLst>
              <a:ext uri="{FF2B5EF4-FFF2-40B4-BE49-F238E27FC236}">
                <a16:creationId xmlns:a16="http://schemas.microsoft.com/office/drawing/2014/main" id="{22AB52A1-B19D-8AB7-57FA-C19D6A823195}"/>
              </a:ext>
            </a:extLst>
          </p:cNvPr>
          <p:cNvSpPr/>
          <p:nvPr/>
        </p:nvSpPr>
        <p:spPr>
          <a:xfrm>
            <a:off x="7506886" y="2240281"/>
            <a:ext cx="3726180" cy="2957407"/>
          </a:xfrm>
          <a:custGeom>
            <a:avLst/>
            <a:gdLst/>
            <a:ahLst/>
            <a:cxnLst/>
            <a:rect l="l" t="t" r="r" b="b"/>
            <a:pathLst>
              <a:path w="2794634" h="2218054">
                <a:moveTo>
                  <a:pt x="359410" y="0"/>
                </a:moveTo>
                <a:lnTo>
                  <a:pt x="2434716" y="0"/>
                </a:lnTo>
                <a:lnTo>
                  <a:pt x="2485226" y="8142"/>
                </a:lnTo>
                <a:lnTo>
                  <a:pt x="2529085" y="30817"/>
                </a:lnTo>
                <a:lnTo>
                  <a:pt x="2563665" y="65397"/>
                </a:lnTo>
                <a:lnTo>
                  <a:pt x="2586340" y="109256"/>
                </a:lnTo>
                <a:lnTo>
                  <a:pt x="2594483" y="159765"/>
                </a:lnTo>
                <a:lnTo>
                  <a:pt x="2594483" y="1898395"/>
                </a:lnTo>
                <a:lnTo>
                  <a:pt x="199644" y="1898395"/>
                </a:lnTo>
                <a:lnTo>
                  <a:pt x="199644" y="159765"/>
                </a:lnTo>
                <a:lnTo>
                  <a:pt x="207786" y="109256"/>
                </a:lnTo>
                <a:lnTo>
                  <a:pt x="230461" y="65397"/>
                </a:lnTo>
                <a:lnTo>
                  <a:pt x="265041" y="30817"/>
                </a:lnTo>
                <a:lnTo>
                  <a:pt x="308900" y="8142"/>
                </a:lnTo>
                <a:lnTo>
                  <a:pt x="359410" y="0"/>
                </a:lnTo>
                <a:close/>
              </a:path>
              <a:path w="2794634" h="2218054">
                <a:moveTo>
                  <a:pt x="2699766" y="2218042"/>
                </a:moveTo>
                <a:lnTo>
                  <a:pt x="94361" y="2218042"/>
                </a:lnTo>
                <a:lnTo>
                  <a:pt x="57650" y="2210622"/>
                </a:lnTo>
                <a:lnTo>
                  <a:pt x="27654" y="2190394"/>
                </a:lnTo>
                <a:lnTo>
                  <a:pt x="7421" y="2160402"/>
                </a:lnTo>
                <a:lnTo>
                  <a:pt x="0" y="2123693"/>
                </a:lnTo>
                <a:lnTo>
                  <a:pt x="0" y="2029333"/>
                </a:lnTo>
                <a:lnTo>
                  <a:pt x="2794127" y="2029333"/>
                </a:lnTo>
                <a:lnTo>
                  <a:pt x="2794127" y="2123693"/>
                </a:lnTo>
                <a:lnTo>
                  <a:pt x="2786705" y="2160402"/>
                </a:lnTo>
                <a:lnTo>
                  <a:pt x="2766472" y="2190394"/>
                </a:lnTo>
                <a:lnTo>
                  <a:pt x="2736476" y="2210622"/>
                </a:lnTo>
                <a:lnTo>
                  <a:pt x="2699766" y="2218042"/>
                </a:lnTo>
                <a:close/>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pic>
        <p:nvPicPr>
          <p:cNvPr id="1028" name="Picture 4">
            <a:extLst>
              <a:ext uri="{FF2B5EF4-FFF2-40B4-BE49-F238E27FC236}">
                <a16:creationId xmlns:a16="http://schemas.microsoft.com/office/drawing/2014/main" id="{2AB3FF5E-FA63-8996-811C-53A58F3E005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3201" y="2426561"/>
            <a:ext cx="3102399" cy="233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9909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2D257AE-9E54-69F1-2508-AF014D9B7AB9}"/>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D3C3F35D-3D64-CCD7-9A27-1310E50A26DB}"/>
              </a:ext>
            </a:extLst>
          </p:cNvPr>
          <p:cNvGrpSpPr/>
          <p:nvPr/>
        </p:nvGrpSpPr>
        <p:grpSpPr>
          <a:xfrm>
            <a:off x="-12699" y="-14437"/>
            <a:ext cx="12204700" cy="6870697"/>
            <a:chOff x="-4762" y="-4762"/>
            <a:chExt cx="9153525" cy="5153023"/>
          </a:xfrm>
        </p:grpSpPr>
        <p:pic>
          <p:nvPicPr>
            <p:cNvPr id="3" name="object 3">
              <a:extLst>
                <a:ext uri="{FF2B5EF4-FFF2-40B4-BE49-F238E27FC236}">
                  <a16:creationId xmlns:a16="http://schemas.microsoft.com/office/drawing/2014/main" id="{CB5E4F84-BFE3-963E-51D3-7117B3096F9E}"/>
                </a:ext>
              </a:extLst>
            </p:cNvPr>
            <p:cNvPicPr/>
            <p:nvPr/>
          </p:nvPicPr>
          <p:blipFill>
            <a:blip r:embed="rId3" cstate="print"/>
            <a:stretch>
              <a:fillRect/>
            </a:stretch>
          </p:blipFill>
          <p:spPr>
            <a:xfrm>
              <a:off x="-4762" y="-4762"/>
              <a:ext cx="9153525" cy="5153023"/>
            </a:xfrm>
            <a:prstGeom prst="rect">
              <a:avLst/>
            </a:prstGeom>
          </p:spPr>
        </p:pic>
        <p:sp>
          <p:nvSpPr>
            <p:cNvPr id="4" name="object 4">
              <a:extLst>
                <a:ext uri="{FF2B5EF4-FFF2-40B4-BE49-F238E27FC236}">
                  <a16:creationId xmlns:a16="http://schemas.microsoft.com/office/drawing/2014/main" id="{B39FF039-3C73-E591-1A57-036ED67B0655}"/>
                </a:ext>
              </a:extLst>
            </p:cNvPr>
            <p:cNvSpPr/>
            <p:nvPr/>
          </p:nvSpPr>
          <p:spPr>
            <a:xfrm>
              <a:off x="716800" y="4855171"/>
              <a:ext cx="7696200" cy="0"/>
            </a:xfrm>
            <a:custGeom>
              <a:avLst/>
              <a:gdLst/>
              <a:ahLst/>
              <a:cxnLst/>
              <a:rect l="l" t="t" r="r" b="b"/>
              <a:pathLst>
                <a:path w="7696200">
                  <a:moveTo>
                    <a:pt x="0" y="0"/>
                  </a:moveTo>
                  <a:lnTo>
                    <a:pt x="7695933" y="0"/>
                  </a:lnTo>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grpSp>
      <p:sp>
        <p:nvSpPr>
          <p:cNvPr id="5" name="object 5">
            <a:extLst>
              <a:ext uri="{FF2B5EF4-FFF2-40B4-BE49-F238E27FC236}">
                <a16:creationId xmlns:a16="http://schemas.microsoft.com/office/drawing/2014/main" id="{EE76A39E-68B8-71AB-E86C-03F94DA9DF11}"/>
              </a:ext>
            </a:extLst>
          </p:cNvPr>
          <p:cNvSpPr txBox="1">
            <a:spLocks noGrp="1"/>
          </p:cNvSpPr>
          <p:nvPr>
            <p:ph type="title"/>
          </p:nvPr>
        </p:nvSpPr>
        <p:spPr>
          <a:xfrm>
            <a:off x="1828800" y="860211"/>
            <a:ext cx="8737600" cy="386430"/>
          </a:xfrm>
          <a:prstGeom prst="rect">
            <a:avLst/>
          </a:prstGeom>
        </p:spPr>
        <p:txBody>
          <a:bodyPr vert="horz" wrap="square" lIns="0" tIns="16933" rIns="0" bIns="0" rtlCol="0">
            <a:spAutoFit/>
          </a:bodyPr>
          <a:lstStyle/>
          <a:p>
            <a:pPr marL="16933">
              <a:spcBef>
                <a:spcPts val="133"/>
              </a:spcBef>
            </a:pPr>
            <a:r>
              <a:rPr lang="en-US" sz="2400" dirty="0">
                <a:latin typeface="Arial" panose="020B0604020202020204" pitchFamily="34" charset="0"/>
                <a:cs typeface="Arial" panose="020B0604020202020204" pitchFamily="34" charset="0"/>
              </a:rPr>
              <a:t>Weather Conditions and Climate Change wit</a:t>
            </a:r>
            <a:r>
              <a:rPr lang="tr-TR" sz="2400" dirty="0">
                <a:latin typeface="Arial" panose="020B0604020202020204" pitchFamily="34" charset="0"/>
                <a:cs typeface="Arial" panose="020B0604020202020204" pitchFamily="34" charset="0"/>
              </a:rPr>
              <a:t>h </a:t>
            </a:r>
            <a:r>
              <a:rPr lang="en-US" sz="2400" dirty="0" err="1">
                <a:latin typeface="Arial" panose="020B0604020202020204" pitchFamily="34" charset="0"/>
                <a:cs typeface="Arial" panose="020B0604020202020204" pitchFamily="34" charset="0"/>
              </a:rPr>
              <a:t>ClimateWins</a:t>
            </a:r>
            <a:endParaRPr sz="2400" dirty="0"/>
          </a:p>
        </p:txBody>
      </p:sp>
      <p:sp>
        <p:nvSpPr>
          <p:cNvPr id="6" name="object 6">
            <a:extLst>
              <a:ext uri="{FF2B5EF4-FFF2-40B4-BE49-F238E27FC236}">
                <a16:creationId xmlns:a16="http://schemas.microsoft.com/office/drawing/2014/main" id="{3C85A1CC-FEAC-11A3-5D54-31F294B4BED8}"/>
              </a:ext>
            </a:extLst>
          </p:cNvPr>
          <p:cNvSpPr txBox="1"/>
          <p:nvPr/>
        </p:nvSpPr>
        <p:spPr>
          <a:xfrm>
            <a:off x="10489353" y="704020"/>
            <a:ext cx="638387" cy="632651"/>
          </a:xfrm>
          <a:prstGeom prst="rect">
            <a:avLst/>
          </a:prstGeom>
        </p:spPr>
        <p:txBody>
          <a:bodyPr vert="horz" wrap="square" lIns="0" tIns="16933" rIns="0" bIns="0" rtlCol="0">
            <a:spAutoFit/>
          </a:bodyPr>
          <a:lstStyle/>
          <a:p>
            <a:pPr marL="16933" defTabSz="1219170">
              <a:spcBef>
                <a:spcPts val="133"/>
              </a:spcBef>
            </a:pPr>
            <a:r>
              <a:rPr sz="4000" b="1" kern="0" spc="-227" dirty="0">
                <a:solidFill>
                  <a:srgbClr val="71FFDD"/>
                </a:solidFill>
                <a:latin typeface="Trebuchet MS"/>
                <a:cs typeface="Trebuchet MS"/>
              </a:rPr>
              <a:t>//</a:t>
            </a:r>
            <a:r>
              <a:rPr sz="4000" b="1" kern="0" spc="-227" dirty="0">
                <a:solidFill>
                  <a:srgbClr val="71FFFF"/>
                </a:solidFill>
                <a:latin typeface="Trebuchet MS"/>
                <a:cs typeface="Trebuchet MS"/>
              </a:rPr>
              <a:t>&gt;</a:t>
            </a:r>
            <a:endParaRPr sz="4000" kern="0">
              <a:solidFill>
                <a:sysClr val="windowText" lastClr="000000"/>
              </a:solidFill>
              <a:latin typeface="Trebuchet MS"/>
              <a:cs typeface="Trebuchet MS"/>
            </a:endParaRPr>
          </a:p>
        </p:txBody>
      </p:sp>
      <p:sp>
        <p:nvSpPr>
          <p:cNvPr id="7" name="object 7">
            <a:extLst>
              <a:ext uri="{FF2B5EF4-FFF2-40B4-BE49-F238E27FC236}">
                <a16:creationId xmlns:a16="http://schemas.microsoft.com/office/drawing/2014/main" id="{F9AFFB09-EA0F-4F33-9AFA-02C0C77520AE}"/>
              </a:ext>
            </a:extLst>
          </p:cNvPr>
          <p:cNvSpPr txBox="1"/>
          <p:nvPr/>
        </p:nvSpPr>
        <p:spPr>
          <a:xfrm>
            <a:off x="1065310" y="704020"/>
            <a:ext cx="637540" cy="632651"/>
          </a:xfrm>
          <a:prstGeom prst="rect">
            <a:avLst/>
          </a:prstGeom>
        </p:spPr>
        <p:txBody>
          <a:bodyPr vert="horz" wrap="square" lIns="0" tIns="16933" rIns="0" bIns="0" rtlCol="0">
            <a:spAutoFit/>
          </a:bodyPr>
          <a:lstStyle/>
          <a:p>
            <a:pPr marL="16933" defTabSz="1219170">
              <a:spcBef>
                <a:spcPts val="133"/>
              </a:spcBef>
            </a:pPr>
            <a:r>
              <a:rPr sz="4000" b="1" kern="0" spc="-233" dirty="0">
                <a:solidFill>
                  <a:srgbClr val="71FFFF"/>
                </a:solidFill>
                <a:latin typeface="Trebuchet MS"/>
                <a:cs typeface="Trebuchet MS"/>
              </a:rPr>
              <a:t>&lt;</a:t>
            </a:r>
            <a:r>
              <a:rPr sz="4000" b="1" kern="0" spc="-233" dirty="0">
                <a:solidFill>
                  <a:srgbClr val="71FFDD"/>
                </a:solidFill>
                <a:latin typeface="Trebuchet MS"/>
                <a:cs typeface="Trebuchet MS"/>
              </a:rPr>
              <a:t>//</a:t>
            </a:r>
            <a:endParaRPr sz="4000" kern="0">
              <a:solidFill>
                <a:sysClr val="windowText" lastClr="000000"/>
              </a:solidFill>
              <a:latin typeface="Trebuchet MS"/>
              <a:cs typeface="Trebuchet MS"/>
            </a:endParaRPr>
          </a:p>
        </p:txBody>
      </p:sp>
      <p:sp>
        <p:nvSpPr>
          <p:cNvPr id="8" name="object 8">
            <a:extLst>
              <a:ext uri="{FF2B5EF4-FFF2-40B4-BE49-F238E27FC236}">
                <a16:creationId xmlns:a16="http://schemas.microsoft.com/office/drawing/2014/main" id="{900BCB0C-A9BB-A52A-86D7-ABB30B880845}"/>
              </a:ext>
            </a:extLst>
          </p:cNvPr>
          <p:cNvSpPr txBox="1"/>
          <p:nvPr/>
        </p:nvSpPr>
        <p:spPr>
          <a:xfrm>
            <a:off x="1040258" y="2008163"/>
            <a:ext cx="10389445" cy="2726387"/>
          </a:xfrm>
          <a:prstGeom prst="rect">
            <a:avLst/>
          </a:prstGeom>
        </p:spPr>
        <p:txBody>
          <a:bodyPr vert="horz" wrap="square" lIns="0" tIns="17780" rIns="0" bIns="0" rtlCol="0">
            <a:spAutoFit/>
          </a:bodyPr>
          <a:lstStyle/>
          <a:p>
            <a:pPr defTabSz="1219170"/>
            <a:r>
              <a:rPr lang="en-US" sz="1600" b="1" kern="0" dirty="0">
                <a:solidFill>
                  <a:prstClr val="white"/>
                </a:solidFill>
                <a:latin typeface="Arial" panose="020B0604020202020204" pitchFamily="34" charset="0"/>
                <a:cs typeface="Arial" panose="020B0604020202020204" pitchFamily="34" charset="0"/>
              </a:rPr>
              <a:t>Context</a:t>
            </a:r>
          </a:p>
          <a:p>
            <a:pPr marL="380990" indent="-380990" defTabSz="1219170">
              <a:buClr>
                <a:srgbClr val="FFFF00"/>
              </a:buClr>
              <a:buFont typeface="Wingdings" panose="05000000000000000000" pitchFamily="2" charset="2"/>
              <a:buChar char="Ø"/>
            </a:pPr>
            <a:r>
              <a:rPr lang="en-US" sz="1600" kern="0" dirty="0" err="1">
                <a:solidFill>
                  <a:prstClr val="white"/>
                </a:solidFill>
              </a:rPr>
              <a:t>ClimateWins</a:t>
            </a:r>
            <a:r>
              <a:rPr lang="en-US" sz="1600" kern="0" dirty="0">
                <a:solidFill>
                  <a:prstClr val="white"/>
                </a:solidFill>
              </a:rPr>
              <a:t> aims to evaluate how machine learning can be applied to historical European weather data to classify daily conditions and support long-term climate forecasting.</a:t>
            </a:r>
            <a:r>
              <a:rPr lang="en-US" sz="1600" kern="0" dirty="0">
                <a:solidFill>
                  <a:prstClr val="white"/>
                </a:solidFill>
                <a:latin typeface="Arial" panose="020B0604020202020204" pitchFamily="34" charset="0"/>
                <a:cs typeface="Arial" panose="020B0604020202020204" pitchFamily="34" charset="0"/>
              </a:rPr>
              <a:t> </a:t>
            </a:r>
            <a:endParaRPr lang="tr-TR" sz="1600" kern="0" dirty="0">
              <a:solidFill>
                <a:prstClr val="white"/>
              </a:solidFill>
              <a:latin typeface="Arial" panose="020B0604020202020204" pitchFamily="34" charset="0"/>
              <a:cs typeface="Arial" panose="020B0604020202020204" pitchFamily="34" charset="0"/>
            </a:endParaRPr>
          </a:p>
          <a:p>
            <a:pPr marL="380990" indent="-380990" defTabSz="1219170">
              <a:buClr>
                <a:srgbClr val="FFFF00"/>
              </a:buClr>
              <a:buFont typeface="Wingdings" panose="05000000000000000000" pitchFamily="2" charset="2"/>
              <a:buChar char="Ø"/>
            </a:pPr>
            <a:r>
              <a:rPr lang="en-US" sz="1600" kern="0" dirty="0">
                <a:solidFill>
                  <a:prstClr val="white"/>
                </a:solidFill>
              </a:rPr>
              <a:t>The project uses more than a century of observations from 18 weather stations, enabling supervised and unsupervised techniques to be tested, compared and optimized for strategic decision</a:t>
            </a:r>
            <a:r>
              <a:rPr lang="tr-TR" sz="1600" kern="0" dirty="0">
                <a:solidFill>
                  <a:prstClr val="white"/>
                </a:solidFill>
              </a:rPr>
              <a:t> </a:t>
            </a:r>
            <a:r>
              <a:rPr lang="en-US" sz="1600" kern="0" dirty="0">
                <a:solidFill>
                  <a:prstClr val="white"/>
                </a:solidFill>
              </a:rPr>
              <a:t>making.</a:t>
            </a:r>
            <a:endParaRPr lang="tr-TR" sz="1600" kern="0" dirty="0">
              <a:solidFill>
                <a:prstClr val="white"/>
              </a:solidFill>
            </a:endParaRPr>
          </a:p>
          <a:p>
            <a:pPr defTabSz="1219170">
              <a:buClr>
                <a:srgbClr val="FFFF00"/>
              </a:buClr>
            </a:pPr>
            <a:r>
              <a:rPr lang="en-US" sz="1600" b="1" kern="0" dirty="0">
                <a:solidFill>
                  <a:prstClr val="white"/>
                </a:solidFill>
                <a:latin typeface="Arial" panose="020B0604020202020204" pitchFamily="34" charset="0"/>
                <a:cs typeface="Arial" panose="020B0604020202020204" pitchFamily="34" charset="0"/>
              </a:rPr>
              <a:t>Data</a:t>
            </a:r>
          </a:p>
          <a:p>
            <a:pPr marL="380990" indent="-380990" defTabSz="1219170" eaLnBrk="0" fontAlgn="base" hangingPunct="0">
              <a:spcBef>
                <a:spcPct val="0"/>
              </a:spcBef>
              <a:spcAft>
                <a:spcPct val="0"/>
              </a:spcAft>
              <a:buClr>
                <a:srgbClr val="FFFF00"/>
              </a:buClr>
              <a:buFont typeface="Wingdings" panose="05000000000000000000" pitchFamily="2" charset="2"/>
              <a:buChar char="Ø"/>
            </a:pPr>
            <a:r>
              <a:rPr lang="en-US" sz="1600" kern="0" dirty="0">
                <a:solidFill>
                  <a:prstClr val="white"/>
                </a:solidFill>
              </a:rPr>
              <a:t>Collected by the European Climate Assessment &amp; Dataset Project </a:t>
            </a:r>
            <a:endParaRPr lang="tr-TR" sz="1600" kern="0" dirty="0">
              <a:solidFill>
                <a:prstClr val="white"/>
              </a:solidFill>
            </a:endParaRPr>
          </a:p>
          <a:p>
            <a:pPr marL="380990" indent="-380990"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a:solidFill>
                  <a:prstClr val="white"/>
                </a:solidFill>
                <a:latin typeface="Arial" panose="020B0604020202020204" pitchFamily="34" charset="0"/>
              </a:rPr>
              <a:t>The dataset contains daily measurements</a:t>
            </a:r>
            <a:r>
              <a:rPr lang="tr-TR" altLang="en-US" sz="1600" kern="0" dirty="0">
                <a:solidFill>
                  <a:prstClr val="white"/>
                </a:solidFill>
                <a:latin typeface="Arial" panose="020B0604020202020204" pitchFamily="34" charset="0"/>
              </a:rPr>
              <a:t>; </a:t>
            </a:r>
            <a:r>
              <a:rPr lang="en-US" altLang="en-US" sz="1600" kern="0" dirty="0">
                <a:solidFill>
                  <a:prstClr val="white"/>
                </a:solidFill>
                <a:latin typeface="Arial" panose="020B0604020202020204" pitchFamily="34" charset="0"/>
              </a:rPr>
              <a:t>temperature, wind speed, precipitation, snow and radiation</a:t>
            </a:r>
            <a:r>
              <a:rPr lang="tr-TR" altLang="en-US" sz="1600" kern="0" dirty="0">
                <a:solidFill>
                  <a:prstClr val="white"/>
                </a:solidFill>
                <a:latin typeface="Arial" panose="020B0604020202020204" pitchFamily="34" charset="0"/>
              </a:rPr>
              <a:t> </a:t>
            </a:r>
            <a:r>
              <a:rPr lang="tr-TR" altLang="en-US" sz="1600" kern="0" dirty="0" err="1">
                <a:solidFill>
                  <a:prstClr val="white"/>
                </a:solidFill>
                <a:latin typeface="Arial" panose="020B0604020202020204" pitchFamily="34" charset="0"/>
              </a:rPr>
              <a:t>that</a:t>
            </a:r>
            <a:r>
              <a:rPr lang="tr-TR" altLang="en-US" sz="1600" kern="0" dirty="0">
                <a:solidFill>
                  <a:prstClr val="white"/>
                </a:solidFill>
                <a:latin typeface="Arial" panose="020B0604020202020204" pitchFamily="34" charset="0"/>
              </a:rPr>
              <a:t> </a:t>
            </a:r>
            <a:r>
              <a:rPr lang="en-US" altLang="en-US" sz="1600" kern="0" dirty="0">
                <a:solidFill>
                  <a:prstClr val="white"/>
                </a:solidFill>
                <a:latin typeface="Arial" panose="020B0604020202020204" pitchFamily="34" charset="0"/>
              </a:rPr>
              <a:t>collected from 18 European weather stations spanning the late 1800s to 2022.</a:t>
            </a:r>
          </a:p>
          <a:p>
            <a:pPr marL="380990" indent="-380990"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a:solidFill>
                  <a:prstClr val="white"/>
                </a:solidFill>
                <a:latin typeface="Arial" panose="020B0604020202020204" pitchFamily="34" charset="0"/>
              </a:rPr>
              <a:t>It</a:t>
            </a:r>
            <a:r>
              <a:rPr lang="tr-TR" altLang="en-US" sz="1600" kern="0" dirty="0">
                <a:solidFill>
                  <a:prstClr val="white"/>
                </a:solidFill>
                <a:latin typeface="Arial" panose="020B0604020202020204" pitchFamily="34" charset="0"/>
              </a:rPr>
              <a:t>’</a:t>
            </a:r>
            <a:r>
              <a:rPr lang="en-US" altLang="en-US" sz="1600" kern="0" dirty="0">
                <a:solidFill>
                  <a:prstClr val="white"/>
                </a:solidFill>
                <a:latin typeface="Arial" panose="020B0604020202020204" pitchFamily="34" charset="0"/>
              </a:rPr>
              <a:t>s long temporal range and multivariate structure make it suitable for both supervised and unsupervised machine learning, enabling pattern detection, trend analysis, and weather-condition classification.</a:t>
            </a:r>
          </a:p>
        </p:txBody>
      </p:sp>
    </p:spTree>
    <p:extLst>
      <p:ext uri="{BB962C8B-B14F-4D97-AF65-F5344CB8AC3E}">
        <p14:creationId xmlns:p14="http://schemas.microsoft.com/office/powerpoint/2010/main" val="2228590495"/>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AA6D949-DF47-AF02-DEC6-8B656FD97E74}"/>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F66ED818-B2C5-105B-A932-6C8BBCD26775}"/>
              </a:ext>
            </a:extLst>
          </p:cNvPr>
          <p:cNvGrpSpPr/>
          <p:nvPr/>
        </p:nvGrpSpPr>
        <p:grpSpPr>
          <a:xfrm>
            <a:off x="-12699" y="-14437"/>
            <a:ext cx="12204700" cy="6870697"/>
            <a:chOff x="-4762" y="-4762"/>
            <a:chExt cx="9153525" cy="5153023"/>
          </a:xfrm>
        </p:grpSpPr>
        <p:pic>
          <p:nvPicPr>
            <p:cNvPr id="3" name="object 3">
              <a:extLst>
                <a:ext uri="{FF2B5EF4-FFF2-40B4-BE49-F238E27FC236}">
                  <a16:creationId xmlns:a16="http://schemas.microsoft.com/office/drawing/2014/main" id="{CA1F14DF-001F-A0E0-FF0B-5DA50D1CA7B8}"/>
                </a:ext>
              </a:extLst>
            </p:cNvPr>
            <p:cNvPicPr/>
            <p:nvPr/>
          </p:nvPicPr>
          <p:blipFill>
            <a:blip r:embed="rId2" cstate="print"/>
            <a:stretch>
              <a:fillRect/>
            </a:stretch>
          </p:blipFill>
          <p:spPr>
            <a:xfrm>
              <a:off x="-4762" y="-4762"/>
              <a:ext cx="9153525" cy="5153023"/>
            </a:xfrm>
            <a:prstGeom prst="rect">
              <a:avLst/>
            </a:prstGeom>
          </p:spPr>
        </p:pic>
        <p:sp>
          <p:nvSpPr>
            <p:cNvPr id="4" name="object 4">
              <a:extLst>
                <a:ext uri="{FF2B5EF4-FFF2-40B4-BE49-F238E27FC236}">
                  <a16:creationId xmlns:a16="http://schemas.microsoft.com/office/drawing/2014/main" id="{F4AC9CF8-D57D-44DF-16D8-262EAE62477A}"/>
                </a:ext>
              </a:extLst>
            </p:cNvPr>
            <p:cNvSpPr/>
            <p:nvPr/>
          </p:nvSpPr>
          <p:spPr>
            <a:xfrm>
              <a:off x="716800" y="4855171"/>
              <a:ext cx="7696200" cy="0"/>
            </a:xfrm>
            <a:custGeom>
              <a:avLst/>
              <a:gdLst/>
              <a:ahLst/>
              <a:cxnLst/>
              <a:rect l="l" t="t" r="r" b="b"/>
              <a:pathLst>
                <a:path w="7696200">
                  <a:moveTo>
                    <a:pt x="0" y="0"/>
                  </a:moveTo>
                  <a:lnTo>
                    <a:pt x="7695933" y="0"/>
                  </a:lnTo>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grpSp>
      <p:sp>
        <p:nvSpPr>
          <p:cNvPr id="5" name="object 5">
            <a:extLst>
              <a:ext uri="{FF2B5EF4-FFF2-40B4-BE49-F238E27FC236}">
                <a16:creationId xmlns:a16="http://schemas.microsoft.com/office/drawing/2014/main" id="{FFC6EB19-3318-D3AE-9352-8C58236E3ED2}"/>
              </a:ext>
            </a:extLst>
          </p:cNvPr>
          <p:cNvSpPr txBox="1">
            <a:spLocks noGrp="1"/>
          </p:cNvSpPr>
          <p:nvPr>
            <p:ph type="title"/>
          </p:nvPr>
        </p:nvSpPr>
        <p:spPr>
          <a:xfrm>
            <a:off x="1828800" y="860211"/>
            <a:ext cx="8737600" cy="386430"/>
          </a:xfrm>
          <a:prstGeom prst="rect">
            <a:avLst/>
          </a:prstGeom>
        </p:spPr>
        <p:txBody>
          <a:bodyPr vert="horz" wrap="square" lIns="0" tIns="16933" rIns="0" bIns="0" rtlCol="0">
            <a:spAutoFit/>
          </a:bodyPr>
          <a:lstStyle/>
          <a:p>
            <a:pPr marL="16933">
              <a:spcBef>
                <a:spcPts val="133"/>
              </a:spcBef>
            </a:pPr>
            <a:r>
              <a:rPr lang="en-US" sz="2400" dirty="0">
                <a:latin typeface="Arial" panose="020B0604020202020204" pitchFamily="34" charset="0"/>
                <a:cs typeface="Arial" panose="020B0604020202020204" pitchFamily="34" charset="0"/>
              </a:rPr>
              <a:t>Weather Conditions and Climate Change wit</a:t>
            </a:r>
            <a:r>
              <a:rPr lang="tr-TR" sz="2400" dirty="0">
                <a:latin typeface="Arial" panose="020B0604020202020204" pitchFamily="34" charset="0"/>
                <a:cs typeface="Arial" panose="020B0604020202020204" pitchFamily="34" charset="0"/>
              </a:rPr>
              <a:t>h </a:t>
            </a:r>
            <a:r>
              <a:rPr lang="en-US" sz="2400" dirty="0" err="1">
                <a:latin typeface="Arial" panose="020B0604020202020204" pitchFamily="34" charset="0"/>
                <a:cs typeface="Arial" panose="020B0604020202020204" pitchFamily="34" charset="0"/>
              </a:rPr>
              <a:t>ClimateWins</a:t>
            </a:r>
            <a:endParaRPr sz="2400" dirty="0"/>
          </a:p>
        </p:txBody>
      </p:sp>
      <p:sp>
        <p:nvSpPr>
          <p:cNvPr id="6" name="object 6">
            <a:extLst>
              <a:ext uri="{FF2B5EF4-FFF2-40B4-BE49-F238E27FC236}">
                <a16:creationId xmlns:a16="http://schemas.microsoft.com/office/drawing/2014/main" id="{086F6121-4296-D15B-A22E-712FD31BC8FE}"/>
              </a:ext>
            </a:extLst>
          </p:cNvPr>
          <p:cNvSpPr txBox="1"/>
          <p:nvPr/>
        </p:nvSpPr>
        <p:spPr>
          <a:xfrm>
            <a:off x="10489353" y="704020"/>
            <a:ext cx="638387" cy="632651"/>
          </a:xfrm>
          <a:prstGeom prst="rect">
            <a:avLst/>
          </a:prstGeom>
        </p:spPr>
        <p:txBody>
          <a:bodyPr vert="horz" wrap="square" lIns="0" tIns="16933" rIns="0" bIns="0" rtlCol="0">
            <a:spAutoFit/>
          </a:bodyPr>
          <a:lstStyle/>
          <a:p>
            <a:pPr marL="16933" defTabSz="1219170">
              <a:spcBef>
                <a:spcPts val="133"/>
              </a:spcBef>
            </a:pPr>
            <a:r>
              <a:rPr sz="4000" b="1" kern="0" spc="-227" dirty="0">
                <a:solidFill>
                  <a:srgbClr val="71FFDD"/>
                </a:solidFill>
                <a:latin typeface="Trebuchet MS"/>
                <a:cs typeface="Trebuchet MS"/>
              </a:rPr>
              <a:t>//</a:t>
            </a:r>
            <a:r>
              <a:rPr sz="4000" b="1" kern="0" spc="-227" dirty="0">
                <a:solidFill>
                  <a:srgbClr val="71FFFF"/>
                </a:solidFill>
                <a:latin typeface="Trebuchet MS"/>
                <a:cs typeface="Trebuchet MS"/>
              </a:rPr>
              <a:t>&gt;</a:t>
            </a:r>
            <a:endParaRPr sz="4000" kern="0">
              <a:solidFill>
                <a:sysClr val="windowText" lastClr="000000"/>
              </a:solidFill>
              <a:latin typeface="Trebuchet MS"/>
              <a:cs typeface="Trebuchet MS"/>
            </a:endParaRPr>
          </a:p>
        </p:txBody>
      </p:sp>
      <p:sp>
        <p:nvSpPr>
          <p:cNvPr id="7" name="object 7">
            <a:extLst>
              <a:ext uri="{FF2B5EF4-FFF2-40B4-BE49-F238E27FC236}">
                <a16:creationId xmlns:a16="http://schemas.microsoft.com/office/drawing/2014/main" id="{EB245CC9-0415-58BC-6842-C04F72F5441F}"/>
              </a:ext>
            </a:extLst>
          </p:cNvPr>
          <p:cNvSpPr txBox="1"/>
          <p:nvPr/>
        </p:nvSpPr>
        <p:spPr>
          <a:xfrm>
            <a:off x="1065310" y="704020"/>
            <a:ext cx="637540" cy="632651"/>
          </a:xfrm>
          <a:prstGeom prst="rect">
            <a:avLst/>
          </a:prstGeom>
        </p:spPr>
        <p:txBody>
          <a:bodyPr vert="horz" wrap="square" lIns="0" tIns="16933" rIns="0" bIns="0" rtlCol="0">
            <a:spAutoFit/>
          </a:bodyPr>
          <a:lstStyle/>
          <a:p>
            <a:pPr marL="16933" defTabSz="1219170">
              <a:spcBef>
                <a:spcPts val="133"/>
              </a:spcBef>
            </a:pPr>
            <a:r>
              <a:rPr sz="4000" b="1" kern="0" spc="-233" dirty="0">
                <a:solidFill>
                  <a:srgbClr val="71FFFF"/>
                </a:solidFill>
                <a:latin typeface="Trebuchet MS"/>
                <a:cs typeface="Trebuchet MS"/>
              </a:rPr>
              <a:t>&lt;</a:t>
            </a:r>
            <a:r>
              <a:rPr sz="4000" b="1" kern="0" spc="-233" dirty="0">
                <a:solidFill>
                  <a:srgbClr val="71FFDD"/>
                </a:solidFill>
                <a:latin typeface="Trebuchet MS"/>
                <a:cs typeface="Trebuchet MS"/>
              </a:rPr>
              <a:t>//</a:t>
            </a:r>
            <a:endParaRPr sz="4000" kern="0">
              <a:solidFill>
                <a:sysClr val="windowText" lastClr="000000"/>
              </a:solidFill>
              <a:latin typeface="Trebuchet MS"/>
              <a:cs typeface="Trebuchet MS"/>
            </a:endParaRPr>
          </a:p>
        </p:txBody>
      </p:sp>
      <p:sp>
        <p:nvSpPr>
          <p:cNvPr id="8" name="object 8">
            <a:extLst>
              <a:ext uri="{FF2B5EF4-FFF2-40B4-BE49-F238E27FC236}">
                <a16:creationId xmlns:a16="http://schemas.microsoft.com/office/drawing/2014/main" id="{884E99AF-DC75-4CDA-7445-28564EB41ECC}"/>
              </a:ext>
            </a:extLst>
          </p:cNvPr>
          <p:cNvSpPr txBox="1"/>
          <p:nvPr/>
        </p:nvSpPr>
        <p:spPr>
          <a:xfrm>
            <a:off x="1040258" y="2008163"/>
            <a:ext cx="5665343" cy="3465051"/>
          </a:xfrm>
          <a:prstGeom prst="rect">
            <a:avLst/>
          </a:prstGeom>
        </p:spPr>
        <p:txBody>
          <a:bodyPr vert="horz" wrap="square" lIns="0" tIns="17780" rIns="0" bIns="0" rtlCol="0">
            <a:spAutoFit/>
          </a:bodyPr>
          <a:lstStyle/>
          <a:p>
            <a:pPr defTabSz="1219170"/>
            <a:r>
              <a:rPr lang="tr-TR" sz="1600" b="1" kern="0" dirty="0" err="1">
                <a:solidFill>
                  <a:prstClr val="white"/>
                </a:solidFill>
                <a:latin typeface="Arial" panose="020B0604020202020204" pitchFamily="34" charset="0"/>
                <a:cs typeface="Arial" panose="020B0604020202020204" pitchFamily="34" charset="0"/>
              </a:rPr>
              <a:t>Potential</a:t>
            </a:r>
            <a:r>
              <a:rPr lang="tr-TR" sz="1600" b="1" kern="0" dirty="0">
                <a:solidFill>
                  <a:prstClr val="white"/>
                </a:solidFill>
                <a:latin typeface="Arial" panose="020B0604020202020204" pitchFamily="34" charset="0"/>
                <a:cs typeface="Arial" panose="020B0604020202020204" pitchFamily="34" charset="0"/>
              </a:rPr>
              <a:t> data </a:t>
            </a:r>
            <a:r>
              <a:rPr lang="tr-TR" sz="1600" b="1" kern="0" dirty="0" err="1">
                <a:solidFill>
                  <a:prstClr val="white"/>
                </a:solidFill>
                <a:latin typeface="Arial" panose="020B0604020202020204" pitchFamily="34" charset="0"/>
                <a:cs typeface="Arial" panose="020B0604020202020204" pitchFamily="34" charset="0"/>
              </a:rPr>
              <a:t>biases</a:t>
            </a:r>
            <a:endParaRPr lang="en-US" sz="1600" b="1" kern="0" dirty="0">
              <a:solidFill>
                <a:prstClr val="white"/>
              </a:solidFill>
              <a:latin typeface="Arial" panose="020B0604020202020204" pitchFamily="34" charset="0"/>
              <a:cs typeface="Arial" panose="020B0604020202020204" pitchFamily="34" charset="0"/>
            </a:endParaRP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b="1" kern="0" dirty="0">
                <a:solidFill>
                  <a:prstClr val="white"/>
                </a:solidFill>
                <a:latin typeface="Arial" panose="020B0604020202020204" pitchFamily="34" charset="0"/>
              </a:rPr>
              <a:t>Privacy Bias:</a:t>
            </a:r>
            <a:r>
              <a:rPr lang="en-US" altLang="en-US" sz="1600" kern="0" dirty="0">
                <a:solidFill>
                  <a:prstClr val="white"/>
                </a:solidFill>
                <a:latin typeface="Arial" panose="020B0604020202020204" pitchFamily="34" charset="0"/>
              </a:rPr>
              <a:t> Climate datasets may indirectly expose personal or location-specific information, requiring strong </a:t>
            </a:r>
            <a:r>
              <a:rPr lang="en-US" altLang="en-US" sz="1600" kern="0" dirty="0" err="1">
                <a:solidFill>
                  <a:prstClr val="white"/>
                </a:solidFill>
                <a:latin typeface="Arial" panose="020B0604020202020204" pitchFamily="34" charset="0"/>
              </a:rPr>
              <a:t>anonymisation</a:t>
            </a:r>
            <a:r>
              <a:rPr lang="en-US" altLang="en-US" sz="1600" kern="0" dirty="0">
                <a:solidFill>
                  <a:prstClr val="white"/>
                </a:solidFill>
                <a:latin typeface="Arial" panose="020B0604020202020204" pitchFamily="34" charset="0"/>
              </a:rPr>
              <a:t>.</a:t>
            </a: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b="1" kern="0" dirty="0">
                <a:solidFill>
                  <a:prstClr val="white"/>
                </a:solidFill>
                <a:latin typeface="Arial" panose="020B0604020202020204" pitchFamily="34" charset="0"/>
              </a:rPr>
              <a:t>Regional Bias:</a:t>
            </a:r>
            <a:r>
              <a:rPr lang="en-US" altLang="en-US" sz="1600" kern="0" dirty="0">
                <a:solidFill>
                  <a:prstClr val="white"/>
                </a:solidFill>
                <a:latin typeface="Arial" panose="020B0604020202020204" pitchFamily="34" charset="0"/>
              </a:rPr>
              <a:t> Long-term, high-density data from Europe and North America contrasts with sparse records elsewhere, creating geographic imbalance.</a:t>
            </a: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b="1" kern="0" dirty="0">
                <a:solidFill>
                  <a:prstClr val="white"/>
                </a:solidFill>
                <a:latin typeface="Arial" panose="020B0604020202020204" pitchFamily="34" charset="0"/>
              </a:rPr>
              <a:t>Collection Bias:</a:t>
            </a:r>
            <a:r>
              <a:rPr lang="en-US" altLang="en-US" sz="1600" kern="0" dirty="0">
                <a:solidFill>
                  <a:prstClr val="white"/>
                </a:solidFill>
                <a:latin typeface="Arial" panose="020B0604020202020204" pitchFamily="34" charset="0"/>
              </a:rPr>
              <a:t> Human decisions in station placement, technology and measurement priorities introduce systematic errors that models inherit.</a:t>
            </a: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b="1" kern="0" dirty="0">
                <a:solidFill>
                  <a:prstClr val="white"/>
                </a:solidFill>
                <a:latin typeface="Arial" panose="020B0604020202020204" pitchFamily="34" charset="0"/>
              </a:rPr>
              <a:t>Decision Bias:</a:t>
            </a:r>
            <a:r>
              <a:rPr lang="en-US" altLang="en-US" sz="1600" kern="0" dirty="0">
                <a:solidFill>
                  <a:prstClr val="white"/>
                </a:solidFill>
                <a:latin typeface="Arial" panose="020B0604020202020204" pitchFamily="34" charset="0"/>
              </a:rPr>
              <a:t> Models may misinterpret long-term climate shifts, leading to faulty predictions that disproportionately harm vulnerable populations.</a:t>
            </a:r>
          </a:p>
          <a:p>
            <a:pPr defTabSz="1219170" eaLnBrk="0" fontAlgn="base" hangingPunct="0">
              <a:spcBef>
                <a:spcPct val="0"/>
              </a:spcBef>
              <a:spcAft>
                <a:spcPct val="0"/>
              </a:spcAft>
              <a:buClr>
                <a:srgbClr val="FFFF00"/>
              </a:buClr>
            </a:pPr>
            <a:endParaRPr lang="en-US" altLang="en-US" sz="1600" kern="0" dirty="0">
              <a:solidFill>
                <a:prstClr val="white"/>
              </a:solidFill>
              <a:latin typeface="Arial" panose="020B0604020202020204" pitchFamily="34" charset="0"/>
            </a:endParaRPr>
          </a:p>
        </p:txBody>
      </p:sp>
      <p:pic>
        <p:nvPicPr>
          <p:cNvPr id="3080" name="Picture 8">
            <a:extLst>
              <a:ext uri="{FF2B5EF4-FFF2-40B4-BE49-F238E27FC236}">
                <a16:creationId xmlns:a16="http://schemas.microsoft.com/office/drawing/2014/main" id="{7885B42D-CB98-F18D-DF56-28E32969E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7200" y="2006601"/>
            <a:ext cx="4613235" cy="3465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1076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1EC78-CCAA-3D3B-A503-B755B54F74F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B6DB88E-2E95-F7DD-161F-00BB91154977}"/>
              </a:ext>
            </a:extLst>
          </p:cNvPr>
          <p:cNvSpPr txBox="1">
            <a:spLocks noGrp="1"/>
          </p:cNvSpPr>
          <p:nvPr>
            <p:ph type="title"/>
          </p:nvPr>
        </p:nvSpPr>
        <p:spPr>
          <a:xfrm>
            <a:off x="4134781" y="682413"/>
            <a:ext cx="3920913" cy="529141"/>
          </a:xfrm>
          <a:prstGeom prst="rect">
            <a:avLst/>
          </a:prstGeom>
        </p:spPr>
        <p:txBody>
          <a:bodyPr vert="horz" wrap="square" lIns="0" tIns="16087" rIns="0" bIns="0" rtlCol="0">
            <a:spAutoFit/>
          </a:bodyPr>
          <a:lstStyle/>
          <a:p>
            <a:pPr marL="16933">
              <a:spcBef>
                <a:spcPts val="127"/>
              </a:spcBef>
            </a:pPr>
            <a:r>
              <a:rPr lang="tr-TR" sz="3333" spc="-147" dirty="0">
                <a:latin typeface="Arial" panose="020B0604020202020204" pitchFamily="34" charset="0"/>
                <a:cs typeface="Arial" panose="020B0604020202020204" pitchFamily="34" charset="0"/>
              </a:rPr>
              <a:t>Data </a:t>
            </a:r>
            <a:r>
              <a:rPr lang="tr-TR" sz="3333" spc="-147" dirty="0" err="1">
                <a:latin typeface="Arial" panose="020B0604020202020204" pitchFamily="34" charset="0"/>
                <a:cs typeface="Arial" panose="020B0604020202020204" pitchFamily="34" charset="0"/>
              </a:rPr>
              <a:t>optimization</a:t>
            </a:r>
            <a:endParaRPr sz="3333" dirty="0">
              <a:latin typeface="Arial" panose="020B0604020202020204" pitchFamily="34" charset="0"/>
              <a:cs typeface="Arial" panose="020B0604020202020204" pitchFamily="34" charset="0"/>
            </a:endParaRPr>
          </a:p>
        </p:txBody>
      </p:sp>
      <p:sp>
        <p:nvSpPr>
          <p:cNvPr id="3" name="object 3">
            <a:extLst>
              <a:ext uri="{FF2B5EF4-FFF2-40B4-BE49-F238E27FC236}">
                <a16:creationId xmlns:a16="http://schemas.microsoft.com/office/drawing/2014/main" id="{BF0CD3FB-A398-EE5A-5CF1-2FF9BC9CE5F5}"/>
              </a:ext>
            </a:extLst>
          </p:cNvPr>
          <p:cNvSpPr txBox="1"/>
          <p:nvPr/>
        </p:nvSpPr>
        <p:spPr>
          <a:xfrm>
            <a:off x="10489353" y="704020"/>
            <a:ext cx="638387" cy="632651"/>
          </a:xfrm>
          <a:prstGeom prst="rect">
            <a:avLst/>
          </a:prstGeom>
        </p:spPr>
        <p:txBody>
          <a:bodyPr vert="horz" wrap="square" lIns="0" tIns="16933" rIns="0" bIns="0" rtlCol="0">
            <a:spAutoFit/>
          </a:bodyPr>
          <a:lstStyle/>
          <a:p>
            <a:pPr marL="16933" defTabSz="1219170">
              <a:spcBef>
                <a:spcPts val="133"/>
              </a:spcBef>
            </a:pPr>
            <a:r>
              <a:rPr sz="4000" b="1" kern="0" spc="-227" dirty="0">
                <a:solidFill>
                  <a:srgbClr val="71FFDD"/>
                </a:solidFill>
                <a:latin typeface="Trebuchet MS"/>
                <a:cs typeface="Trebuchet MS"/>
              </a:rPr>
              <a:t>//</a:t>
            </a:r>
            <a:r>
              <a:rPr sz="4000" b="1" kern="0" spc="-227" dirty="0">
                <a:solidFill>
                  <a:srgbClr val="71FFFF"/>
                </a:solidFill>
                <a:latin typeface="Trebuchet MS"/>
                <a:cs typeface="Trebuchet MS"/>
              </a:rPr>
              <a:t>&gt;</a:t>
            </a:r>
            <a:endParaRPr sz="4000" kern="0">
              <a:solidFill>
                <a:sysClr val="windowText" lastClr="000000"/>
              </a:solidFill>
              <a:latin typeface="Trebuchet MS"/>
              <a:cs typeface="Trebuchet MS"/>
            </a:endParaRPr>
          </a:p>
        </p:txBody>
      </p:sp>
      <p:sp>
        <p:nvSpPr>
          <p:cNvPr id="4" name="object 4">
            <a:extLst>
              <a:ext uri="{FF2B5EF4-FFF2-40B4-BE49-F238E27FC236}">
                <a16:creationId xmlns:a16="http://schemas.microsoft.com/office/drawing/2014/main" id="{7D38E5F4-8345-BDDA-724F-5D34188F862E}"/>
              </a:ext>
            </a:extLst>
          </p:cNvPr>
          <p:cNvSpPr txBox="1"/>
          <p:nvPr/>
        </p:nvSpPr>
        <p:spPr>
          <a:xfrm>
            <a:off x="1065310" y="704020"/>
            <a:ext cx="637540" cy="632651"/>
          </a:xfrm>
          <a:prstGeom prst="rect">
            <a:avLst/>
          </a:prstGeom>
        </p:spPr>
        <p:txBody>
          <a:bodyPr vert="horz" wrap="square" lIns="0" tIns="16933" rIns="0" bIns="0" rtlCol="0">
            <a:spAutoFit/>
          </a:bodyPr>
          <a:lstStyle/>
          <a:p>
            <a:pPr marL="16933" defTabSz="1219170">
              <a:spcBef>
                <a:spcPts val="133"/>
              </a:spcBef>
            </a:pPr>
            <a:r>
              <a:rPr sz="4000" b="1" kern="0" spc="-233" dirty="0">
                <a:solidFill>
                  <a:srgbClr val="71FFFF"/>
                </a:solidFill>
                <a:latin typeface="Trebuchet MS"/>
                <a:cs typeface="Trebuchet MS"/>
              </a:rPr>
              <a:t>&lt;</a:t>
            </a:r>
            <a:r>
              <a:rPr sz="4000" b="1" kern="0" spc="-233" dirty="0">
                <a:solidFill>
                  <a:srgbClr val="71FFDD"/>
                </a:solidFill>
                <a:latin typeface="Trebuchet MS"/>
                <a:cs typeface="Trebuchet MS"/>
              </a:rPr>
              <a:t>//</a:t>
            </a:r>
            <a:endParaRPr sz="4000" kern="0">
              <a:solidFill>
                <a:sysClr val="windowText" lastClr="000000"/>
              </a:solidFill>
              <a:latin typeface="Trebuchet MS"/>
              <a:cs typeface="Trebuchet MS"/>
            </a:endParaRPr>
          </a:p>
        </p:txBody>
      </p:sp>
      <p:sp>
        <p:nvSpPr>
          <p:cNvPr id="13" name="TextBox 12">
            <a:extLst>
              <a:ext uri="{FF2B5EF4-FFF2-40B4-BE49-F238E27FC236}">
                <a16:creationId xmlns:a16="http://schemas.microsoft.com/office/drawing/2014/main" id="{8C9C5492-1A63-42BF-306B-D898B8799C5C}"/>
              </a:ext>
            </a:extLst>
          </p:cNvPr>
          <p:cNvSpPr txBox="1"/>
          <p:nvPr/>
        </p:nvSpPr>
        <p:spPr>
          <a:xfrm>
            <a:off x="711200" y="2413001"/>
            <a:ext cx="6299200" cy="2554545"/>
          </a:xfrm>
          <a:prstGeom prst="rect">
            <a:avLst/>
          </a:prstGeom>
          <a:noFill/>
        </p:spPr>
        <p:txBody>
          <a:bodyPr wrap="square" rtlCol="0">
            <a:spAutoFit/>
          </a:bodyPr>
          <a:lstStyle/>
          <a:p>
            <a:pPr defTabSz="1219170"/>
            <a:r>
              <a:rPr lang="tr-TR" sz="1600" kern="0" dirty="0" err="1">
                <a:solidFill>
                  <a:prstClr val="white"/>
                </a:solidFill>
                <a:latin typeface="Arial" panose="020B0604020202020204" pitchFamily="34" charset="0"/>
                <a:cs typeface="Arial" panose="020B0604020202020204" pitchFamily="34" charset="0"/>
              </a:rPr>
              <a:t>Gradient</a:t>
            </a:r>
            <a:r>
              <a:rPr lang="tr-TR" sz="1600" kern="0" dirty="0">
                <a:solidFill>
                  <a:prstClr val="white"/>
                </a:solidFill>
                <a:latin typeface="Arial" panose="020B0604020202020204" pitchFamily="34" charset="0"/>
                <a:cs typeface="Arial" panose="020B0604020202020204" pitchFamily="34" charset="0"/>
              </a:rPr>
              <a:t> </a:t>
            </a:r>
            <a:r>
              <a:rPr lang="tr-TR" sz="1600" kern="0" dirty="0" err="1">
                <a:solidFill>
                  <a:prstClr val="white"/>
                </a:solidFill>
                <a:latin typeface="Arial" panose="020B0604020202020204" pitchFamily="34" charset="0"/>
                <a:cs typeface="Arial" panose="020B0604020202020204" pitchFamily="34" charset="0"/>
              </a:rPr>
              <a:t>descent</a:t>
            </a:r>
            <a:r>
              <a:rPr lang="tr-TR" sz="1600" kern="0" dirty="0">
                <a:solidFill>
                  <a:prstClr val="white"/>
                </a:solidFill>
                <a:latin typeface="Arial" panose="020B0604020202020204" pitchFamily="34" charset="0"/>
                <a:cs typeface="Arial" panose="020B0604020202020204" pitchFamily="34" charset="0"/>
              </a:rPr>
              <a:t> </a:t>
            </a:r>
            <a:r>
              <a:rPr lang="tr-TR" sz="1600" kern="0" dirty="0" err="1">
                <a:solidFill>
                  <a:prstClr val="white"/>
                </a:solidFill>
                <a:latin typeface="Arial" panose="020B0604020202020204" pitchFamily="34" charset="0"/>
                <a:cs typeface="Arial" panose="020B0604020202020204" pitchFamily="34" charset="0"/>
              </a:rPr>
              <a:t>technique</a:t>
            </a:r>
            <a:r>
              <a:rPr lang="tr-TR" sz="1600" kern="0" dirty="0">
                <a:solidFill>
                  <a:prstClr val="white"/>
                </a:solidFill>
                <a:latin typeface="Arial" panose="020B0604020202020204" pitchFamily="34" charset="0"/>
                <a:cs typeface="Arial" panose="020B0604020202020204" pitchFamily="34" charset="0"/>
              </a:rPr>
              <a:t> is </a:t>
            </a:r>
            <a:r>
              <a:rPr lang="tr-TR" sz="1600" kern="0" dirty="0" err="1">
                <a:solidFill>
                  <a:prstClr val="white"/>
                </a:solidFill>
                <a:latin typeface="Arial" panose="020B0604020202020204" pitchFamily="34" charset="0"/>
                <a:cs typeface="Arial" panose="020B0604020202020204" pitchFamily="34" charset="0"/>
              </a:rPr>
              <a:t>used</a:t>
            </a:r>
            <a:r>
              <a:rPr lang="tr-TR" sz="1600" kern="0" dirty="0">
                <a:solidFill>
                  <a:prstClr val="white"/>
                </a:solidFill>
                <a:latin typeface="Arial" panose="020B0604020202020204" pitchFamily="34" charset="0"/>
                <a:cs typeface="Arial" panose="020B0604020202020204" pitchFamily="34" charset="0"/>
              </a:rPr>
              <a:t> </a:t>
            </a:r>
            <a:r>
              <a:rPr lang="tr-TR" sz="1600" kern="0" dirty="0" err="1">
                <a:solidFill>
                  <a:prstClr val="white"/>
                </a:solidFill>
                <a:latin typeface="Arial" panose="020B0604020202020204" pitchFamily="34" charset="0"/>
                <a:cs typeface="Arial" panose="020B0604020202020204" pitchFamily="34" charset="0"/>
              </a:rPr>
              <a:t>to</a:t>
            </a:r>
            <a:r>
              <a:rPr lang="tr-TR" sz="1600" kern="0" dirty="0">
                <a:solidFill>
                  <a:prstClr val="white"/>
                </a:solidFill>
                <a:latin typeface="Arial" panose="020B0604020202020204" pitchFamily="34" charset="0"/>
                <a:cs typeface="Arial" panose="020B0604020202020204" pitchFamily="34" charset="0"/>
              </a:rPr>
              <a:t> optimize data.</a:t>
            </a:r>
          </a:p>
          <a:p>
            <a:pPr defTabSz="1219170"/>
            <a:r>
              <a:rPr lang="tr-TR" sz="1600" kern="0" dirty="0" err="1">
                <a:solidFill>
                  <a:prstClr val="white"/>
                </a:solidFill>
                <a:latin typeface="Arial" panose="020B0604020202020204" pitchFamily="34" charset="0"/>
                <a:cs typeface="Arial" panose="020B0604020202020204" pitchFamily="34" charset="0"/>
              </a:rPr>
              <a:t>By</a:t>
            </a:r>
            <a:r>
              <a:rPr lang="tr-TR" sz="1600" kern="0" dirty="0">
                <a:solidFill>
                  <a:prstClr val="white"/>
                </a:solidFill>
                <a:latin typeface="Arial" panose="020B0604020202020204" pitchFamily="34" charset="0"/>
                <a:cs typeface="Arial" panose="020B0604020202020204" pitchFamily="34" charset="0"/>
              </a:rPr>
              <a:t> </a:t>
            </a:r>
            <a:r>
              <a:rPr lang="tr-TR" sz="1600" kern="0" dirty="0" err="1">
                <a:solidFill>
                  <a:prstClr val="white"/>
                </a:solidFill>
                <a:latin typeface="Arial" panose="020B0604020202020204" pitchFamily="34" charset="0"/>
                <a:cs typeface="Arial" panose="020B0604020202020204" pitchFamily="34" charset="0"/>
              </a:rPr>
              <a:t>using</a:t>
            </a:r>
            <a:r>
              <a:rPr lang="tr-TR" sz="1600" kern="0" dirty="0">
                <a:solidFill>
                  <a:prstClr val="white"/>
                </a:solidFill>
                <a:latin typeface="Arial" panose="020B0604020202020204" pitchFamily="34" charset="0"/>
                <a:cs typeface="Arial" panose="020B0604020202020204" pitchFamily="34" charset="0"/>
              </a:rPr>
              <a:t> </a:t>
            </a:r>
            <a:r>
              <a:rPr lang="tr-TR" sz="1600" kern="0" dirty="0" err="1">
                <a:solidFill>
                  <a:prstClr val="white"/>
                </a:solidFill>
                <a:latin typeface="Arial" panose="020B0604020202020204" pitchFamily="34" charset="0"/>
                <a:cs typeface="Arial" panose="020B0604020202020204" pitchFamily="34" charset="0"/>
              </a:rPr>
              <a:t>gradient</a:t>
            </a:r>
            <a:r>
              <a:rPr lang="tr-TR" sz="1600" kern="0" dirty="0">
                <a:solidFill>
                  <a:prstClr val="white"/>
                </a:solidFill>
                <a:latin typeface="Arial" panose="020B0604020202020204" pitchFamily="34" charset="0"/>
                <a:cs typeface="Arial" panose="020B0604020202020204" pitchFamily="34" charset="0"/>
              </a:rPr>
              <a:t> </a:t>
            </a:r>
            <a:r>
              <a:rPr lang="tr-TR" sz="1600" kern="0" dirty="0" err="1">
                <a:solidFill>
                  <a:prstClr val="white"/>
                </a:solidFill>
                <a:latin typeface="Arial" panose="020B0604020202020204" pitchFamily="34" charset="0"/>
                <a:cs typeface="Arial" panose="020B0604020202020204" pitchFamily="34" charset="0"/>
              </a:rPr>
              <a:t>descent</a:t>
            </a:r>
            <a:r>
              <a:rPr lang="tr-TR" sz="1600" kern="0" dirty="0">
                <a:solidFill>
                  <a:prstClr val="white"/>
                </a:solidFill>
                <a:latin typeface="Arial" panose="020B0604020202020204" pitchFamily="34" charset="0"/>
                <a:cs typeface="Arial" panose="020B0604020202020204" pitchFamily="34" charset="0"/>
              </a:rPr>
              <a:t>;</a:t>
            </a:r>
          </a:p>
          <a:p>
            <a:pPr marL="228594" indent="-228594" defTabSz="1219170">
              <a:buClr>
                <a:srgbClr val="FFFF00"/>
              </a:buClr>
              <a:buFont typeface="Wingdings" panose="05000000000000000000" pitchFamily="2" charset="2"/>
              <a:buChar char="Ø"/>
            </a:pPr>
            <a:r>
              <a:rPr lang="en-US" sz="1600" kern="0" dirty="0">
                <a:solidFill>
                  <a:prstClr val="white"/>
                </a:solidFill>
              </a:rPr>
              <a:t>Improves model accuracy by iteratively refining parameters instead of relying on manual tuning.</a:t>
            </a:r>
            <a:endParaRPr lang="tr-TR" sz="1600" kern="0" dirty="0">
              <a:solidFill>
                <a:prstClr val="white"/>
              </a:solidFill>
            </a:endParaRPr>
          </a:p>
          <a:p>
            <a:pPr marL="228594" indent="-228594" defTabSz="1219170">
              <a:buClr>
                <a:srgbClr val="FFFF00"/>
              </a:buClr>
              <a:buFont typeface="Wingdings" panose="05000000000000000000" pitchFamily="2" charset="2"/>
              <a:buChar char="Ø"/>
            </a:pPr>
            <a:r>
              <a:rPr lang="en-US" sz="1600" kern="0" dirty="0">
                <a:solidFill>
                  <a:prstClr val="white"/>
                </a:solidFill>
              </a:rPr>
              <a:t>Provides a systematic way to </a:t>
            </a:r>
            <a:r>
              <a:rPr lang="en-US" sz="1600" kern="0" dirty="0" err="1">
                <a:solidFill>
                  <a:prstClr val="white"/>
                </a:solidFill>
              </a:rPr>
              <a:t>minimise</a:t>
            </a:r>
            <a:r>
              <a:rPr lang="en-US" sz="1600" kern="0" dirty="0">
                <a:solidFill>
                  <a:prstClr val="white"/>
                </a:solidFill>
              </a:rPr>
              <a:t> the loss function by updating weights in the direction of steepest descent.</a:t>
            </a:r>
            <a:endParaRPr lang="tr-TR" sz="1600" kern="0" dirty="0">
              <a:solidFill>
                <a:prstClr val="white"/>
              </a:solidFill>
            </a:endParaRPr>
          </a:p>
          <a:p>
            <a:pPr marL="228594" indent="-228594" defTabSz="1219170">
              <a:buClr>
                <a:srgbClr val="FFFF00"/>
              </a:buClr>
              <a:buFont typeface="Wingdings" panose="05000000000000000000" pitchFamily="2" charset="2"/>
              <a:buChar char="Ø"/>
            </a:pPr>
            <a:r>
              <a:rPr lang="en-US" sz="1600" kern="0" dirty="0">
                <a:solidFill>
                  <a:prstClr val="white"/>
                </a:solidFill>
              </a:rPr>
              <a:t>Converges toward optimal solutions even when starting from poor initial parameter values.</a:t>
            </a:r>
            <a:endParaRPr lang="tr-TR" sz="1600" kern="0" dirty="0">
              <a:solidFill>
                <a:prstClr val="white"/>
              </a:solidFill>
            </a:endParaRPr>
          </a:p>
          <a:p>
            <a:pPr marL="228594" indent="-228594" defTabSz="1219170">
              <a:buClr>
                <a:srgbClr val="FFFF00"/>
              </a:buClr>
              <a:buFont typeface="Wingdings" panose="05000000000000000000" pitchFamily="2" charset="2"/>
              <a:buChar char="Ø"/>
            </a:pPr>
            <a:r>
              <a:rPr lang="en-US" sz="1600" kern="0" dirty="0" err="1">
                <a:solidFill>
                  <a:prstClr val="white"/>
                </a:solidFill>
              </a:rPr>
              <a:t>Visualises</a:t>
            </a:r>
            <a:r>
              <a:rPr lang="en-US" sz="1600" kern="0" dirty="0">
                <a:solidFill>
                  <a:prstClr val="white"/>
                </a:solidFill>
              </a:rPr>
              <a:t> learning progress clearly: loss decreases over time while parameters </a:t>
            </a:r>
            <a:r>
              <a:rPr lang="en-US" sz="1600" kern="0" dirty="0" err="1">
                <a:solidFill>
                  <a:prstClr val="white"/>
                </a:solidFill>
              </a:rPr>
              <a:t>stabilise</a:t>
            </a:r>
            <a:r>
              <a:rPr lang="en-US" sz="1600" kern="0" dirty="0">
                <a:solidFill>
                  <a:prstClr val="white"/>
                </a:solidFill>
              </a:rPr>
              <a:t>, confirming effective </a:t>
            </a:r>
            <a:r>
              <a:rPr lang="en-US" sz="1600" kern="0" dirty="0" err="1">
                <a:solidFill>
                  <a:prstClr val="white"/>
                </a:solidFill>
              </a:rPr>
              <a:t>optimisation</a:t>
            </a:r>
            <a:r>
              <a:rPr lang="en-US" sz="1600" kern="0" dirty="0">
                <a:solidFill>
                  <a:prstClr val="white"/>
                </a:solidFill>
              </a:rPr>
              <a:t>.</a:t>
            </a:r>
            <a:endParaRPr lang="en-US" sz="1600" kern="0" dirty="0">
              <a:solidFill>
                <a:prstClr val="white"/>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11D37F4-0177-9152-62B1-729E8D2BFE22}"/>
              </a:ext>
            </a:extLst>
          </p:cNvPr>
          <p:cNvPicPr>
            <a:picLocks noChangeAspect="1"/>
          </p:cNvPicPr>
          <p:nvPr/>
        </p:nvPicPr>
        <p:blipFill>
          <a:blip r:embed="rId2"/>
          <a:stretch>
            <a:fillRect/>
          </a:stretch>
        </p:blipFill>
        <p:spPr>
          <a:xfrm>
            <a:off x="7315200" y="2060725"/>
            <a:ext cx="4470400" cy="3607232"/>
          </a:xfrm>
          <a:prstGeom prst="rect">
            <a:avLst/>
          </a:prstGeom>
        </p:spPr>
      </p:pic>
    </p:spTree>
    <p:extLst>
      <p:ext uri="{BB962C8B-B14F-4D97-AF65-F5344CB8AC3E}">
        <p14:creationId xmlns:p14="http://schemas.microsoft.com/office/powerpoint/2010/main" val="2622343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A255264-63FE-41A4-537D-2F715322A2F1}"/>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07F33BE0-2C9E-9772-D086-2A42FBC7C3AE}"/>
              </a:ext>
            </a:extLst>
          </p:cNvPr>
          <p:cNvGrpSpPr/>
          <p:nvPr/>
        </p:nvGrpSpPr>
        <p:grpSpPr>
          <a:xfrm>
            <a:off x="-6349" y="-6349"/>
            <a:ext cx="12204700" cy="6870700"/>
            <a:chOff x="-4762" y="-4762"/>
            <a:chExt cx="9153525" cy="5153025"/>
          </a:xfrm>
        </p:grpSpPr>
        <p:pic>
          <p:nvPicPr>
            <p:cNvPr id="3" name="object 3">
              <a:extLst>
                <a:ext uri="{FF2B5EF4-FFF2-40B4-BE49-F238E27FC236}">
                  <a16:creationId xmlns:a16="http://schemas.microsoft.com/office/drawing/2014/main" id="{F37458ED-7C24-DEF5-138C-5AC6F73850AC}"/>
                </a:ext>
              </a:extLst>
            </p:cNvPr>
            <p:cNvPicPr/>
            <p:nvPr/>
          </p:nvPicPr>
          <p:blipFill>
            <a:blip r:embed="rId2" cstate="print"/>
            <a:stretch>
              <a:fillRect/>
            </a:stretch>
          </p:blipFill>
          <p:spPr>
            <a:xfrm>
              <a:off x="-4762" y="-4762"/>
              <a:ext cx="9153525" cy="5153023"/>
            </a:xfrm>
            <a:prstGeom prst="rect">
              <a:avLst/>
            </a:prstGeom>
          </p:spPr>
        </p:pic>
        <p:sp>
          <p:nvSpPr>
            <p:cNvPr id="4" name="object 4">
              <a:extLst>
                <a:ext uri="{FF2B5EF4-FFF2-40B4-BE49-F238E27FC236}">
                  <a16:creationId xmlns:a16="http://schemas.microsoft.com/office/drawing/2014/main" id="{BDFC7138-A994-20F5-E88B-ADBC790F0DF2}"/>
                </a:ext>
              </a:extLst>
            </p:cNvPr>
            <p:cNvSpPr/>
            <p:nvPr/>
          </p:nvSpPr>
          <p:spPr>
            <a:xfrm>
              <a:off x="716800" y="4855171"/>
              <a:ext cx="7696200" cy="0"/>
            </a:xfrm>
            <a:custGeom>
              <a:avLst/>
              <a:gdLst/>
              <a:ahLst/>
              <a:cxnLst/>
              <a:rect l="l" t="t" r="r" b="b"/>
              <a:pathLst>
                <a:path w="7696200">
                  <a:moveTo>
                    <a:pt x="0" y="0"/>
                  </a:moveTo>
                  <a:lnTo>
                    <a:pt x="7695933" y="0"/>
                  </a:lnTo>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grpSp>
      <p:sp>
        <p:nvSpPr>
          <p:cNvPr id="5" name="object 5">
            <a:extLst>
              <a:ext uri="{FF2B5EF4-FFF2-40B4-BE49-F238E27FC236}">
                <a16:creationId xmlns:a16="http://schemas.microsoft.com/office/drawing/2014/main" id="{9C7A40A7-5EE8-5996-8712-54EAEEE73D21}"/>
              </a:ext>
            </a:extLst>
          </p:cNvPr>
          <p:cNvSpPr txBox="1">
            <a:spLocks noGrp="1"/>
          </p:cNvSpPr>
          <p:nvPr>
            <p:ph type="title"/>
          </p:nvPr>
        </p:nvSpPr>
        <p:spPr>
          <a:xfrm>
            <a:off x="1828800" y="851322"/>
            <a:ext cx="8863549" cy="386430"/>
          </a:xfrm>
          <a:prstGeom prst="rect">
            <a:avLst/>
          </a:prstGeom>
        </p:spPr>
        <p:txBody>
          <a:bodyPr vert="horz" wrap="square" lIns="0" tIns="16933" rIns="0" bIns="0" rtlCol="0">
            <a:spAutoFit/>
          </a:bodyPr>
          <a:lstStyle/>
          <a:p>
            <a:pPr marL="16933">
              <a:spcBef>
                <a:spcPts val="133"/>
              </a:spcBef>
            </a:pPr>
            <a:r>
              <a:rPr lang="tr-TR" sz="2400" dirty="0" err="1">
                <a:latin typeface="Arial" panose="020B0604020202020204" pitchFamily="34" charset="0"/>
                <a:cs typeface="Arial" panose="020B0604020202020204" pitchFamily="34" charset="0"/>
              </a:rPr>
              <a:t>Alghorithm</a:t>
            </a:r>
            <a:r>
              <a:rPr lang="tr-TR" sz="2400" dirty="0">
                <a:latin typeface="Arial" panose="020B0604020202020204" pitchFamily="34" charset="0"/>
                <a:cs typeface="Arial" panose="020B0604020202020204" pitchFamily="34" charset="0"/>
              </a:rPr>
              <a:t> 1: K-</a:t>
            </a:r>
            <a:r>
              <a:rPr lang="tr-TR" sz="2400" dirty="0" err="1">
                <a:latin typeface="Arial" panose="020B0604020202020204" pitchFamily="34" charset="0"/>
                <a:cs typeface="Arial" panose="020B0604020202020204" pitchFamily="34" charset="0"/>
              </a:rPr>
              <a:t>nearest</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neighbour</a:t>
            </a:r>
            <a:r>
              <a:rPr lang="tr-TR" sz="2400" dirty="0">
                <a:latin typeface="Arial" panose="020B0604020202020204" pitchFamily="34" charset="0"/>
                <a:cs typeface="Arial" panose="020B0604020202020204" pitchFamily="34" charset="0"/>
              </a:rPr>
              <a:t> (KNN)</a:t>
            </a:r>
            <a:endParaRPr sz="2400" dirty="0"/>
          </a:p>
        </p:txBody>
      </p:sp>
      <p:sp>
        <p:nvSpPr>
          <p:cNvPr id="6" name="object 6">
            <a:extLst>
              <a:ext uri="{FF2B5EF4-FFF2-40B4-BE49-F238E27FC236}">
                <a16:creationId xmlns:a16="http://schemas.microsoft.com/office/drawing/2014/main" id="{0808129C-665C-BC4B-804B-84ABEB9B02AC}"/>
              </a:ext>
            </a:extLst>
          </p:cNvPr>
          <p:cNvSpPr txBox="1"/>
          <p:nvPr/>
        </p:nvSpPr>
        <p:spPr>
          <a:xfrm>
            <a:off x="10489353" y="704020"/>
            <a:ext cx="638387" cy="632651"/>
          </a:xfrm>
          <a:prstGeom prst="rect">
            <a:avLst/>
          </a:prstGeom>
        </p:spPr>
        <p:txBody>
          <a:bodyPr vert="horz" wrap="square" lIns="0" tIns="16933" rIns="0" bIns="0" rtlCol="0">
            <a:spAutoFit/>
          </a:bodyPr>
          <a:lstStyle/>
          <a:p>
            <a:pPr marL="16933" defTabSz="1219170">
              <a:spcBef>
                <a:spcPts val="133"/>
              </a:spcBef>
            </a:pPr>
            <a:r>
              <a:rPr sz="4000" b="1" kern="0" spc="-227" dirty="0">
                <a:solidFill>
                  <a:srgbClr val="71FFDD"/>
                </a:solidFill>
                <a:latin typeface="Trebuchet MS"/>
                <a:cs typeface="Trebuchet MS"/>
              </a:rPr>
              <a:t>//</a:t>
            </a:r>
            <a:r>
              <a:rPr sz="4000" b="1" kern="0" spc="-227" dirty="0">
                <a:solidFill>
                  <a:srgbClr val="71FFFF"/>
                </a:solidFill>
                <a:latin typeface="Trebuchet MS"/>
                <a:cs typeface="Trebuchet MS"/>
              </a:rPr>
              <a:t>&gt;</a:t>
            </a:r>
            <a:endParaRPr sz="4000" kern="0">
              <a:solidFill>
                <a:sysClr val="windowText" lastClr="000000"/>
              </a:solidFill>
              <a:latin typeface="Trebuchet MS"/>
              <a:cs typeface="Trebuchet MS"/>
            </a:endParaRPr>
          </a:p>
        </p:txBody>
      </p:sp>
      <p:sp>
        <p:nvSpPr>
          <p:cNvPr id="7" name="object 7">
            <a:extLst>
              <a:ext uri="{FF2B5EF4-FFF2-40B4-BE49-F238E27FC236}">
                <a16:creationId xmlns:a16="http://schemas.microsoft.com/office/drawing/2014/main" id="{EB7927A2-D942-1EC1-1CFE-642D3B1692E1}"/>
              </a:ext>
            </a:extLst>
          </p:cNvPr>
          <p:cNvSpPr txBox="1"/>
          <p:nvPr/>
        </p:nvSpPr>
        <p:spPr>
          <a:xfrm>
            <a:off x="1065310" y="704020"/>
            <a:ext cx="637540" cy="632651"/>
          </a:xfrm>
          <a:prstGeom prst="rect">
            <a:avLst/>
          </a:prstGeom>
        </p:spPr>
        <p:txBody>
          <a:bodyPr vert="horz" wrap="square" lIns="0" tIns="16933" rIns="0" bIns="0" rtlCol="0">
            <a:spAutoFit/>
          </a:bodyPr>
          <a:lstStyle/>
          <a:p>
            <a:pPr marL="16933" defTabSz="1219170">
              <a:spcBef>
                <a:spcPts val="133"/>
              </a:spcBef>
            </a:pPr>
            <a:r>
              <a:rPr sz="4000" b="1" kern="0" spc="-233" dirty="0">
                <a:solidFill>
                  <a:srgbClr val="71FFFF"/>
                </a:solidFill>
                <a:latin typeface="Trebuchet MS"/>
                <a:cs typeface="Trebuchet MS"/>
              </a:rPr>
              <a:t>&lt;</a:t>
            </a:r>
            <a:r>
              <a:rPr sz="4000" b="1" kern="0" spc="-233" dirty="0">
                <a:solidFill>
                  <a:srgbClr val="71FFDD"/>
                </a:solidFill>
                <a:latin typeface="Trebuchet MS"/>
                <a:cs typeface="Trebuchet MS"/>
              </a:rPr>
              <a:t>//</a:t>
            </a:r>
            <a:endParaRPr sz="4000" kern="0">
              <a:solidFill>
                <a:sysClr val="windowText" lastClr="000000"/>
              </a:solidFill>
              <a:latin typeface="Trebuchet MS"/>
              <a:cs typeface="Trebuchet MS"/>
            </a:endParaRPr>
          </a:p>
        </p:txBody>
      </p:sp>
      <p:sp>
        <p:nvSpPr>
          <p:cNvPr id="8" name="object 8">
            <a:extLst>
              <a:ext uri="{FF2B5EF4-FFF2-40B4-BE49-F238E27FC236}">
                <a16:creationId xmlns:a16="http://schemas.microsoft.com/office/drawing/2014/main" id="{6108BE3F-B9D4-98A1-9E77-DD6EB2DCFA05}"/>
              </a:ext>
            </a:extLst>
          </p:cNvPr>
          <p:cNvSpPr txBox="1"/>
          <p:nvPr/>
        </p:nvSpPr>
        <p:spPr>
          <a:xfrm>
            <a:off x="711201" y="1954579"/>
            <a:ext cx="4342249" cy="3465051"/>
          </a:xfrm>
          <a:prstGeom prst="rect">
            <a:avLst/>
          </a:prstGeom>
        </p:spPr>
        <p:txBody>
          <a:bodyPr vert="horz" wrap="square" lIns="0" tIns="17780" rIns="0" bIns="0" rtlCol="0">
            <a:spAutoFit/>
          </a:bodyPr>
          <a:lstStyle/>
          <a:p>
            <a:pPr marL="228594" indent="-228594" defTabSz="1219170">
              <a:buClr>
                <a:srgbClr val="FFFF00"/>
              </a:buClr>
              <a:buFont typeface="Wingdings" panose="05000000000000000000" pitchFamily="2" charset="2"/>
              <a:buChar char="Ø"/>
            </a:pPr>
            <a:r>
              <a:rPr lang="en-US" sz="1600" kern="0" dirty="0">
                <a:solidFill>
                  <a:prstClr val="white"/>
                </a:solidFill>
                <a:latin typeface="Arial" panose="020B0604020202020204" pitchFamily="34" charset="0"/>
                <a:cs typeface="Arial" panose="020B0604020202020204" pitchFamily="34" charset="0"/>
              </a:rPr>
              <a:t>k-Nearest Neighbors classifies a new data point by finding the </a:t>
            </a:r>
            <a:r>
              <a:rPr lang="en-US" sz="1600" b="1" kern="0" dirty="0">
                <a:solidFill>
                  <a:prstClr val="white"/>
                </a:solidFill>
                <a:latin typeface="Arial" panose="020B0604020202020204" pitchFamily="34" charset="0"/>
                <a:cs typeface="Arial" panose="020B0604020202020204" pitchFamily="34" charset="0"/>
              </a:rPr>
              <a:t>k most similar points</a:t>
            </a:r>
            <a:r>
              <a:rPr lang="en-US" sz="1600" kern="0" dirty="0">
                <a:solidFill>
                  <a:prstClr val="white"/>
                </a:solidFill>
                <a:latin typeface="Arial" panose="020B0604020202020204" pitchFamily="34" charset="0"/>
                <a:cs typeface="Arial" panose="020B0604020202020204" pitchFamily="34" charset="0"/>
              </a:rPr>
              <a:t> in the dataset and assigning the majority class among those </a:t>
            </a:r>
            <a:r>
              <a:rPr lang="en-US" sz="1600" kern="0" dirty="0" err="1">
                <a:solidFill>
                  <a:prstClr val="white"/>
                </a:solidFill>
                <a:latin typeface="Arial" panose="020B0604020202020204" pitchFamily="34" charset="0"/>
                <a:cs typeface="Arial" panose="020B0604020202020204" pitchFamily="34" charset="0"/>
              </a:rPr>
              <a:t>neighbours</a:t>
            </a:r>
            <a:r>
              <a:rPr lang="en-US" sz="1600" kern="0" dirty="0">
                <a:solidFill>
                  <a:prstClr val="white"/>
                </a:solidFill>
                <a:latin typeface="Arial" panose="020B0604020202020204" pitchFamily="34" charset="0"/>
                <a:cs typeface="Arial" panose="020B0604020202020204" pitchFamily="34" charset="0"/>
              </a:rPr>
              <a:t>.</a:t>
            </a:r>
            <a:endParaRPr lang="tr-TR" sz="1600" kern="0" dirty="0">
              <a:solidFill>
                <a:prstClr val="white"/>
              </a:solidFill>
              <a:latin typeface="Arial" panose="020B0604020202020204" pitchFamily="34" charset="0"/>
              <a:cs typeface="Arial" panose="020B0604020202020204" pitchFamily="34" charset="0"/>
            </a:endParaRP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a:solidFill>
                  <a:prstClr val="white"/>
                </a:solidFill>
                <a:latin typeface="Arial" panose="020B0604020202020204" pitchFamily="34" charset="0"/>
              </a:rPr>
              <a:t>Average testing accuracy was </a:t>
            </a:r>
            <a:r>
              <a:rPr lang="en-US" altLang="en-US" sz="1600" b="1" kern="0" dirty="0">
                <a:solidFill>
                  <a:prstClr val="white"/>
                </a:solidFill>
                <a:latin typeface="Arial" panose="020B0604020202020204" pitchFamily="34" charset="0"/>
              </a:rPr>
              <a:t>88%</a:t>
            </a:r>
            <a:r>
              <a:rPr lang="en-US" altLang="en-US" sz="1600" kern="0" dirty="0">
                <a:solidFill>
                  <a:prstClr val="white"/>
                </a:solidFill>
                <a:latin typeface="Arial" panose="020B0604020202020204" pitchFamily="34" charset="0"/>
              </a:rPr>
              <a:t>, with most stations reaching </a:t>
            </a:r>
            <a:r>
              <a:rPr lang="en-US" altLang="en-US" sz="1600" b="1" kern="0" dirty="0">
                <a:solidFill>
                  <a:prstClr val="white"/>
                </a:solidFill>
                <a:latin typeface="Arial" panose="020B0604020202020204" pitchFamily="34" charset="0"/>
              </a:rPr>
              <a:t>90–95%</a:t>
            </a:r>
            <a:r>
              <a:rPr lang="en-US" altLang="en-US" sz="1600" kern="0" dirty="0">
                <a:solidFill>
                  <a:prstClr val="white"/>
                </a:solidFill>
                <a:latin typeface="Arial" panose="020B0604020202020204" pitchFamily="34" charset="0"/>
              </a:rPr>
              <a:t> reliability.</a:t>
            </a: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err="1">
                <a:solidFill>
                  <a:prstClr val="white"/>
                </a:solidFill>
                <a:latin typeface="Arial" panose="020B0604020202020204" pitchFamily="34" charset="0"/>
              </a:rPr>
              <a:t>Sonnblick’s</a:t>
            </a:r>
            <a:r>
              <a:rPr lang="en-US" altLang="en-US" sz="1600" kern="0" dirty="0">
                <a:solidFill>
                  <a:prstClr val="white"/>
                </a:solidFill>
                <a:latin typeface="Arial" panose="020B0604020202020204" pitchFamily="34" charset="0"/>
              </a:rPr>
              <a:t> </a:t>
            </a:r>
            <a:r>
              <a:rPr lang="en-US" altLang="en-US" sz="1600" b="1" kern="0" dirty="0">
                <a:solidFill>
                  <a:prstClr val="white"/>
                </a:solidFill>
                <a:latin typeface="Arial" panose="020B0604020202020204" pitchFamily="34" charset="0"/>
              </a:rPr>
              <a:t>100% accuracy</a:t>
            </a:r>
            <a:r>
              <a:rPr lang="en-US" altLang="en-US" sz="1600" kern="0" dirty="0">
                <a:solidFill>
                  <a:prstClr val="white"/>
                </a:solidFill>
                <a:latin typeface="Arial" panose="020B0604020202020204" pitchFamily="34" charset="0"/>
              </a:rPr>
              <a:t> is misleading because the dataset contains only one class.</a:t>
            </a: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a:solidFill>
                  <a:prstClr val="white"/>
                </a:solidFill>
                <a:latin typeface="Arial" panose="020B0604020202020204" pitchFamily="34" charset="0"/>
              </a:rPr>
              <a:t>No major overfitting observed</a:t>
            </a:r>
            <a:endParaRPr lang="tr-TR" altLang="en-US" sz="1600" kern="0" dirty="0">
              <a:solidFill>
                <a:prstClr val="white"/>
              </a:solidFill>
              <a:latin typeface="Arial" panose="020B0604020202020204" pitchFamily="34" charset="0"/>
            </a:endParaRP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a:solidFill>
                  <a:prstClr val="white"/>
                </a:solidFill>
                <a:latin typeface="Arial" panose="020B0604020202020204" pitchFamily="34" charset="0"/>
              </a:rPr>
              <a:t>Slight overfitting may appear with small </a:t>
            </a:r>
            <a:r>
              <a:rPr lang="en-US" altLang="en-US" sz="1600" kern="0" dirty="0" err="1">
                <a:solidFill>
                  <a:prstClr val="white"/>
                </a:solidFill>
                <a:latin typeface="Arial" panose="020B0604020202020204" pitchFamily="34" charset="0"/>
              </a:rPr>
              <a:t>neighbour</a:t>
            </a:r>
            <a:r>
              <a:rPr lang="en-US" altLang="en-US" sz="1600" kern="0" dirty="0">
                <a:solidFill>
                  <a:prstClr val="white"/>
                </a:solidFill>
                <a:latin typeface="Arial" panose="020B0604020202020204" pitchFamily="34" charset="0"/>
              </a:rPr>
              <a:t> values and more varied data is needed for better class separation.</a:t>
            </a:r>
          </a:p>
          <a:p>
            <a:pPr defTabSz="1219170"/>
            <a:endParaRPr lang="tr-TR" sz="1600" kern="0" dirty="0">
              <a:solidFill>
                <a:prstClr val="white"/>
              </a:solidFill>
              <a:latin typeface="Arial" panose="020B0604020202020204" pitchFamily="34" charset="0"/>
              <a:cs typeface="Arial" panose="020B0604020202020204" pitchFamily="34" charset="0"/>
            </a:endParaRPr>
          </a:p>
          <a:p>
            <a:pPr defTabSz="1219170"/>
            <a:endParaRPr sz="1600" kern="0" dirty="0">
              <a:solidFill>
                <a:prstClr val="white"/>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135ACF08-D91D-8040-5523-91AD6440920F}"/>
              </a:ext>
            </a:extLst>
          </p:cNvPr>
          <p:cNvPicPr>
            <a:picLocks noChangeAspect="1"/>
          </p:cNvPicPr>
          <p:nvPr/>
        </p:nvPicPr>
        <p:blipFill>
          <a:blip r:embed="rId3"/>
          <a:stretch>
            <a:fillRect/>
          </a:stretch>
        </p:blipFill>
        <p:spPr>
          <a:xfrm>
            <a:off x="5181599" y="1600201"/>
            <a:ext cx="6756540" cy="4673599"/>
          </a:xfrm>
          <a:prstGeom prst="rect">
            <a:avLst/>
          </a:prstGeom>
        </p:spPr>
      </p:pic>
    </p:spTree>
    <p:extLst>
      <p:ext uri="{BB962C8B-B14F-4D97-AF65-F5344CB8AC3E}">
        <p14:creationId xmlns:p14="http://schemas.microsoft.com/office/powerpoint/2010/main" val="934467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7F2CD14-6596-5C42-26EB-584AD965AEDE}"/>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BBDD12D8-6B53-6D57-84A9-4EC1B9D5E7F3}"/>
              </a:ext>
            </a:extLst>
          </p:cNvPr>
          <p:cNvGrpSpPr/>
          <p:nvPr/>
        </p:nvGrpSpPr>
        <p:grpSpPr>
          <a:xfrm>
            <a:off x="-6349" y="-6349"/>
            <a:ext cx="12204700" cy="6870700"/>
            <a:chOff x="-4762" y="-4762"/>
            <a:chExt cx="9153525" cy="5153025"/>
          </a:xfrm>
        </p:grpSpPr>
        <p:pic>
          <p:nvPicPr>
            <p:cNvPr id="3" name="object 3">
              <a:extLst>
                <a:ext uri="{FF2B5EF4-FFF2-40B4-BE49-F238E27FC236}">
                  <a16:creationId xmlns:a16="http://schemas.microsoft.com/office/drawing/2014/main" id="{D51D51F5-0E6A-BEC9-0694-BAA3FC68DA4C}"/>
                </a:ext>
              </a:extLst>
            </p:cNvPr>
            <p:cNvPicPr/>
            <p:nvPr/>
          </p:nvPicPr>
          <p:blipFill>
            <a:blip r:embed="rId2" cstate="print"/>
            <a:stretch>
              <a:fillRect/>
            </a:stretch>
          </p:blipFill>
          <p:spPr>
            <a:xfrm>
              <a:off x="-4762" y="-4762"/>
              <a:ext cx="9153525" cy="5153023"/>
            </a:xfrm>
            <a:prstGeom prst="rect">
              <a:avLst/>
            </a:prstGeom>
          </p:spPr>
        </p:pic>
        <p:sp>
          <p:nvSpPr>
            <p:cNvPr id="4" name="object 4">
              <a:extLst>
                <a:ext uri="{FF2B5EF4-FFF2-40B4-BE49-F238E27FC236}">
                  <a16:creationId xmlns:a16="http://schemas.microsoft.com/office/drawing/2014/main" id="{18315186-08DD-525C-38B6-26A7F147CD11}"/>
                </a:ext>
              </a:extLst>
            </p:cNvPr>
            <p:cNvSpPr/>
            <p:nvPr/>
          </p:nvSpPr>
          <p:spPr>
            <a:xfrm>
              <a:off x="716800" y="4855171"/>
              <a:ext cx="7696200" cy="0"/>
            </a:xfrm>
            <a:custGeom>
              <a:avLst/>
              <a:gdLst/>
              <a:ahLst/>
              <a:cxnLst/>
              <a:rect l="l" t="t" r="r" b="b"/>
              <a:pathLst>
                <a:path w="7696200">
                  <a:moveTo>
                    <a:pt x="0" y="0"/>
                  </a:moveTo>
                  <a:lnTo>
                    <a:pt x="7695933" y="0"/>
                  </a:lnTo>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grpSp>
      <p:sp>
        <p:nvSpPr>
          <p:cNvPr id="5" name="object 5">
            <a:extLst>
              <a:ext uri="{FF2B5EF4-FFF2-40B4-BE49-F238E27FC236}">
                <a16:creationId xmlns:a16="http://schemas.microsoft.com/office/drawing/2014/main" id="{4A46FB08-10C4-E895-13B9-F3016177BE15}"/>
              </a:ext>
            </a:extLst>
          </p:cNvPr>
          <p:cNvSpPr txBox="1">
            <a:spLocks noGrp="1"/>
          </p:cNvSpPr>
          <p:nvPr>
            <p:ph type="title"/>
          </p:nvPr>
        </p:nvSpPr>
        <p:spPr>
          <a:xfrm>
            <a:off x="1828800" y="851322"/>
            <a:ext cx="8863549" cy="386430"/>
          </a:xfrm>
          <a:prstGeom prst="rect">
            <a:avLst/>
          </a:prstGeom>
        </p:spPr>
        <p:txBody>
          <a:bodyPr vert="horz" wrap="square" lIns="0" tIns="16933" rIns="0" bIns="0" rtlCol="0">
            <a:spAutoFit/>
          </a:bodyPr>
          <a:lstStyle/>
          <a:p>
            <a:pPr marL="16933">
              <a:spcBef>
                <a:spcPts val="133"/>
              </a:spcBef>
            </a:pPr>
            <a:r>
              <a:rPr lang="tr-TR" sz="2400" dirty="0" err="1">
                <a:latin typeface="Arial" panose="020B0604020202020204" pitchFamily="34" charset="0"/>
                <a:cs typeface="Arial" panose="020B0604020202020204" pitchFamily="34" charset="0"/>
              </a:rPr>
              <a:t>Alghorithm</a:t>
            </a:r>
            <a:r>
              <a:rPr lang="tr-TR" sz="2400" dirty="0">
                <a:latin typeface="Arial" panose="020B0604020202020204" pitchFamily="34" charset="0"/>
                <a:cs typeface="Arial" panose="020B0604020202020204" pitchFamily="34" charset="0"/>
              </a:rPr>
              <a:t> 2: </a:t>
            </a:r>
            <a:r>
              <a:rPr lang="tr-TR" sz="2400" dirty="0" err="1">
                <a:latin typeface="Arial" panose="020B0604020202020204" pitchFamily="34" charset="0"/>
                <a:cs typeface="Arial" panose="020B0604020202020204" pitchFamily="34" charset="0"/>
              </a:rPr>
              <a:t>Decision</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Tree</a:t>
            </a:r>
            <a:endParaRPr sz="2400" dirty="0"/>
          </a:p>
        </p:txBody>
      </p:sp>
      <p:sp>
        <p:nvSpPr>
          <p:cNvPr id="6" name="object 6">
            <a:extLst>
              <a:ext uri="{FF2B5EF4-FFF2-40B4-BE49-F238E27FC236}">
                <a16:creationId xmlns:a16="http://schemas.microsoft.com/office/drawing/2014/main" id="{6B681A0E-7D23-6485-5996-696A7348CB72}"/>
              </a:ext>
            </a:extLst>
          </p:cNvPr>
          <p:cNvSpPr txBox="1"/>
          <p:nvPr/>
        </p:nvSpPr>
        <p:spPr>
          <a:xfrm>
            <a:off x="10489353" y="704020"/>
            <a:ext cx="638387" cy="632651"/>
          </a:xfrm>
          <a:prstGeom prst="rect">
            <a:avLst/>
          </a:prstGeom>
        </p:spPr>
        <p:txBody>
          <a:bodyPr vert="horz" wrap="square" lIns="0" tIns="16933" rIns="0" bIns="0" rtlCol="0">
            <a:spAutoFit/>
          </a:bodyPr>
          <a:lstStyle/>
          <a:p>
            <a:pPr marL="16933" defTabSz="1219170">
              <a:spcBef>
                <a:spcPts val="133"/>
              </a:spcBef>
            </a:pPr>
            <a:r>
              <a:rPr sz="4000" b="1" kern="0" spc="-227" dirty="0">
                <a:solidFill>
                  <a:srgbClr val="71FFDD"/>
                </a:solidFill>
                <a:latin typeface="Trebuchet MS"/>
                <a:cs typeface="Trebuchet MS"/>
              </a:rPr>
              <a:t>//</a:t>
            </a:r>
            <a:r>
              <a:rPr sz="4000" b="1" kern="0" spc="-227" dirty="0">
                <a:solidFill>
                  <a:srgbClr val="71FFFF"/>
                </a:solidFill>
                <a:latin typeface="Trebuchet MS"/>
                <a:cs typeface="Trebuchet MS"/>
              </a:rPr>
              <a:t>&gt;</a:t>
            </a:r>
            <a:endParaRPr sz="4000" kern="0">
              <a:solidFill>
                <a:sysClr val="windowText" lastClr="000000"/>
              </a:solidFill>
              <a:latin typeface="Trebuchet MS"/>
              <a:cs typeface="Trebuchet MS"/>
            </a:endParaRPr>
          </a:p>
        </p:txBody>
      </p:sp>
      <p:sp>
        <p:nvSpPr>
          <p:cNvPr id="7" name="object 7">
            <a:extLst>
              <a:ext uri="{FF2B5EF4-FFF2-40B4-BE49-F238E27FC236}">
                <a16:creationId xmlns:a16="http://schemas.microsoft.com/office/drawing/2014/main" id="{8E750CC6-CB4E-BE00-5641-0CC4A18D08CE}"/>
              </a:ext>
            </a:extLst>
          </p:cNvPr>
          <p:cNvSpPr txBox="1"/>
          <p:nvPr/>
        </p:nvSpPr>
        <p:spPr>
          <a:xfrm>
            <a:off x="1065310" y="704020"/>
            <a:ext cx="637540" cy="632651"/>
          </a:xfrm>
          <a:prstGeom prst="rect">
            <a:avLst/>
          </a:prstGeom>
        </p:spPr>
        <p:txBody>
          <a:bodyPr vert="horz" wrap="square" lIns="0" tIns="16933" rIns="0" bIns="0" rtlCol="0">
            <a:spAutoFit/>
          </a:bodyPr>
          <a:lstStyle/>
          <a:p>
            <a:pPr marL="16933" defTabSz="1219170">
              <a:spcBef>
                <a:spcPts val="133"/>
              </a:spcBef>
            </a:pPr>
            <a:r>
              <a:rPr sz="4000" b="1" kern="0" spc="-233" dirty="0">
                <a:solidFill>
                  <a:srgbClr val="71FFFF"/>
                </a:solidFill>
                <a:latin typeface="Trebuchet MS"/>
                <a:cs typeface="Trebuchet MS"/>
              </a:rPr>
              <a:t>&lt;</a:t>
            </a:r>
            <a:r>
              <a:rPr sz="4000" b="1" kern="0" spc="-233" dirty="0">
                <a:solidFill>
                  <a:srgbClr val="71FFDD"/>
                </a:solidFill>
                <a:latin typeface="Trebuchet MS"/>
                <a:cs typeface="Trebuchet MS"/>
              </a:rPr>
              <a:t>//</a:t>
            </a:r>
            <a:endParaRPr sz="4000" kern="0">
              <a:solidFill>
                <a:sysClr val="windowText" lastClr="000000"/>
              </a:solidFill>
              <a:latin typeface="Trebuchet MS"/>
              <a:cs typeface="Trebuchet MS"/>
            </a:endParaRPr>
          </a:p>
        </p:txBody>
      </p:sp>
      <p:sp>
        <p:nvSpPr>
          <p:cNvPr id="8" name="object 8">
            <a:extLst>
              <a:ext uri="{FF2B5EF4-FFF2-40B4-BE49-F238E27FC236}">
                <a16:creationId xmlns:a16="http://schemas.microsoft.com/office/drawing/2014/main" id="{DD532D9F-F80C-9C44-B64E-16103CDB53AE}"/>
              </a:ext>
            </a:extLst>
          </p:cNvPr>
          <p:cNvSpPr txBox="1"/>
          <p:nvPr/>
        </p:nvSpPr>
        <p:spPr>
          <a:xfrm>
            <a:off x="711201" y="2514601"/>
            <a:ext cx="4342249" cy="2480166"/>
          </a:xfrm>
          <a:prstGeom prst="rect">
            <a:avLst/>
          </a:prstGeom>
        </p:spPr>
        <p:txBody>
          <a:bodyPr vert="horz" wrap="square" lIns="0" tIns="17780" rIns="0" bIns="0" rtlCol="0">
            <a:spAutoFit/>
          </a:bodyPr>
          <a:lstStyle/>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a:solidFill>
                  <a:prstClr val="white"/>
                </a:solidFill>
                <a:latin typeface="Arial" panose="020B0604020202020204" pitchFamily="34" charset="0"/>
              </a:rPr>
              <a:t>A decision tree is a classification method that predicts outcomes by splitting data into branches based on the most informative features.</a:t>
            </a: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a:solidFill>
                  <a:prstClr val="white"/>
                </a:solidFill>
                <a:latin typeface="Arial" panose="020B0604020202020204" pitchFamily="34" charset="0"/>
              </a:rPr>
              <a:t>Training accuracy reached </a:t>
            </a:r>
            <a:r>
              <a:rPr lang="en-US" altLang="en-US" sz="1600" b="1" kern="0" dirty="0">
                <a:solidFill>
                  <a:prstClr val="white"/>
                </a:solidFill>
                <a:latin typeface="Arial" panose="020B0604020202020204" pitchFamily="34" charset="0"/>
              </a:rPr>
              <a:t>60%</a:t>
            </a:r>
            <a:r>
              <a:rPr lang="en-US" altLang="en-US" sz="1600" kern="0" dirty="0">
                <a:solidFill>
                  <a:prstClr val="white"/>
                </a:solidFill>
                <a:latin typeface="Arial" panose="020B0604020202020204" pitchFamily="34" charset="0"/>
              </a:rPr>
              <a:t> and testing accuracy </a:t>
            </a:r>
            <a:r>
              <a:rPr lang="en-US" altLang="en-US" sz="1600" b="1" kern="0" dirty="0">
                <a:solidFill>
                  <a:prstClr val="white"/>
                </a:solidFill>
                <a:latin typeface="Arial" panose="020B0604020202020204" pitchFamily="34" charset="0"/>
              </a:rPr>
              <a:t>63%</a:t>
            </a:r>
            <a:r>
              <a:rPr lang="en-US" altLang="en-US" sz="1600" kern="0" dirty="0">
                <a:solidFill>
                  <a:prstClr val="white"/>
                </a:solidFill>
                <a:latin typeface="Arial" panose="020B0604020202020204" pitchFamily="34" charset="0"/>
              </a:rPr>
              <a:t>, and the overall process was slow due to the model evaluating many split possibilities.</a:t>
            </a:r>
          </a:p>
          <a:p>
            <a:pPr marL="228594" indent="-228594" defTabSz="1219170">
              <a:buClr>
                <a:srgbClr val="FFFF00"/>
              </a:buClr>
              <a:buFont typeface="Wingdings" panose="05000000000000000000" pitchFamily="2" charset="2"/>
              <a:buChar char="Ø"/>
            </a:pPr>
            <a:r>
              <a:rPr lang="en-US" sz="1600" kern="0" dirty="0">
                <a:solidFill>
                  <a:prstClr val="white"/>
                </a:solidFill>
              </a:rPr>
              <a:t>Decision tree should be pruned because its too complex and hard to interpret </a:t>
            </a:r>
            <a:endParaRPr sz="1600" kern="0" dirty="0">
              <a:solidFill>
                <a:prstClr val="white"/>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779C0B51-787E-64EB-8B6E-C61B429EBC74}"/>
              </a:ext>
            </a:extLst>
          </p:cNvPr>
          <p:cNvPicPr>
            <a:picLocks noChangeAspect="1"/>
          </p:cNvPicPr>
          <p:nvPr/>
        </p:nvPicPr>
        <p:blipFill>
          <a:blip r:embed="rId3"/>
          <a:stretch>
            <a:fillRect/>
          </a:stretch>
        </p:blipFill>
        <p:spPr>
          <a:xfrm>
            <a:off x="5181600" y="1600200"/>
            <a:ext cx="6705600" cy="4673600"/>
          </a:xfrm>
          <a:prstGeom prst="rect">
            <a:avLst/>
          </a:prstGeom>
        </p:spPr>
      </p:pic>
    </p:spTree>
    <p:extLst>
      <p:ext uri="{BB962C8B-B14F-4D97-AF65-F5344CB8AC3E}">
        <p14:creationId xmlns:p14="http://schemas.microsoft.com/office/powerpoint/2010/main" val="2267112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9CFF969-A145-0609-3095-408E34637597}"/>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6F44E070-2407-C503-90F4-FE28BAF5BD3E}"/>
              </a:ext>
            </a:extLst>
          </p:cNvPr>
          <p:cNvGrpSpPr/>
          <p:nvPr/>
        </p:nvGrpSpPr>
        <p:grpSpPr>
          <a:xfrm>
            <a:off x="-6349" y="-6349"/>
            <a:ext cx="12204700" cy="6870700"/>
            <a:chOff x="-4762" y="-4762"/>
            <a:chExt cx="9153525" cy="5153025"/>
          </a:xfrm>
        </p:grpSpPr>
        <p:pic>
          <p:nvPicPr>
            <p:cNvPr id="3" name="object 3">
              <a:extLst>
                <a:ext uri="{FF2B5EF4-FFF2-40B4-BE49-F238E27FC236}">
                  <a16:creationId xmlns:a16="http://schemas.microsoft.com/office/drawing/2014/main" id="{EECC5E7F-B209-BB9A-9BEA-28A8370DF1C7}"/>
                </a:ext>
              </a:extLst>
            </p:cNvPr>
            <p:cNvPicPr/>
            <p:nvPr/>
          </p:nvPicPr>
          <p:blipFill>
            <a:blip r:embed="rId2" cstate="print"/>
            <a:stretch>
              <a:fillRect/>
            </a:stretch>
          </p:blipFill>
          <p:spPr>
            <a:xfrm>
              <a:off x="-4762" y="-4762"/>
              <a:ext cx="9153525" cy="5153023"/>
            </a:xfrm>
            <a:prstGeom prst="rect">
              <a:avLst/>
            </a:prstGeom>
          </p:spPr>
        </p:pic>
        <p:sp>
          <p:nvSpPr>
            <p:cNvPr id="4" name="object 4">
              <a:extLst>
                <a:ext uri="{FF2B5EF4-FFF2-40B4-BE49-F238E27FC236}">
                  <a16:creationId xmlns:a16="http://schemas.microsoft.com/office/drawing/2014/main" id="{F7DE0FF0-70BF-AE6C-770B-A14A93B67420}"/>
                </a:ext>
              </a:extLst>
            </p:cNvPr>
            <p:cNvSpPr/>
            <p:nvPr/>
          </p:nvSpPr>
          <p:spPr>
            <a:xfrm>
              <a:off x="716800" y="4855171"/>
              <a:ext cx="7696200" cy="0"/>
            </a:xfrm>
            <a:custGeom>
              <a:avLst/>
              <a:gdLst/>
              <a:ahLst/>
              <a:cxnLst/>
              <a:rect l="l" t="t" r="r" b="b"/>
              <a:pathLst>
                <a:path w="7696200">
                  <a:moveTo>
                    <a:pt x="0" y="0"/>
                  </a:moveTo>
                  <a:lnTo>
                    <a:pt x="7695933" y="0"/>
                  </a:lnTo>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grpSp>
      <p:sp>
        <p:nvSpPr>
          <p:cNvPr id="5" name="object 5">
            <a:extLst>
              <a:ext uri="{FF2B5EF4-FFF2-40B4-BE49-F238E27FC236}">
                <a16:creationId xmlns:a16="http://schemas.microsoft.com/office/drawing/2014/main" id="{185E8236-4EA8-DDFD-2423-5F2B337561FD}"/>
              </a:ext>
            </a:extLst>
          </p:cNvPr>
          <p:cNvSpPr txBox="1">
            <a:spLocks noGrp="1"/>
          </p:cNvSpPr>
          <p:nvPr>
            <p:ph type="title"/>
          </p:nvPr>
        </p:nvSpPr>
        <p:spPr>
          <a:xfrm>
            <a:off x="1828800" y="851322"/>
            <a:ext cx="8863549" cy="386430"/>
          </a:xfrm>
          <a:prstGeom prst="rect">
            <a:avLst/>
          </a:prstGeom>
        </p:spPr>
        <p:txBody>
          <a:bodyPr vert="horz" wrap="square" lIns="0" tIns="16933" rIns="0" bIns="0" rtlCol="0">
            <a:spAutoFit/>
          </a:bodyPr>
          <a:lstStyle/>
          <a:p>
            <a:pPr marL="16933">
              <a:spcBef>
                <a:spcPts val="133"/>
              </a:spcBef>
            </a:pPr>
            <a:r>
              <a:rPr lang="tr-TR" sz="2400" dirty="0" err="1">
                <a:latin typeface="Arial" panose="020B0604020202020204" pitchFamily="34" charset="0"/>
                <a:cs typeface="Arial" panose="020B0604020202020204" pitchFamily="34" charset="0"/>
              </a:rPr>
              <a:t>Alghorithm</a:t>
            </a:r>
            <a:r>
              <a:rPr lang="tr-TR" sz="2400" dirty="0">
                <a:latin typeface="Arial" panose="020B0604020202020204" pitchFamily="34" charset="0"/>
                <a:cs typeface="Arial" panose="020B0604020202020204" pitchFamily="34" charset="0"/>
              </a:rPr>
              <a:t> 3: </a:t>
            </a:r>
            <a:r>
              <a:rPr lang="tr-TR" sz="2400" dirty="0" err="1">
                <a:latin typeface="Arial" panose="020B0604020202020204" pitchFamily="34" charset="0"/>
                <a:cs typeface="Arial" panose="020B0604020202020204" pitchFamily="34" charset="0"/>
              </a:rPr>
              <a:t>Artifical</a:t>
            </a:r>
            <a:r>
              <a:rPr lang="tr-TR" sz="2400" dirty="0">
                <a:latin typeface="Arial" panose="020B0604020202020204" pitchFamily="34" charset="0"/>
                <a:cs typeface="Arial" panose="020B0604020202020204" pitchFamily="34" charset="0"/>
              </a:rPr>
              <a:t> </a:t>
            </a:r>
            <a:r>
              <a:rPr lang="tr-TR" sz="2400" dirty="0" err="1">
                <a:latin typeface="Arial" panose="020B0604020202020204" pitchFamily="34" charset="0"/>
                <a:cs typeface="Arial" panose="020B0604020202020204" pitchFamily="34" charset="0"/>
              </a:rPr>
              <a:t>neural</a:t>
            </a:r>
            <a:r>
              <a:rPr lang="tr-TR" sz="2400" dirty="0">
                <a:latin typeface="Arial" panose="020B0604020202020204" pitchFamily="34" charset="0"/>
                <a:cs typeface="Arial" panose="020B0604020202020204" pitchFamily="34" charset="0"/>
              </a:rPr>
              <a:t> network (ANN)</a:t>
            </a:r>
            <a:endParaRPr sz="2400" dirty="0"/>
          </a:p>
        </p:txBody>
      </p:sp>
      <p:sp>
        <p:nvSpPr>
          <p:cNvPr id="6" name="object 6">
            <a:extLst>
              <a:ext uri="{FF2B5EF4-FFF2-40B4-BE49-F238E27FC236}">
                <a16:creationId xmlns:a16="http://schemas.microsoft.com/office/drawing/2014/main" id="{DE71BD5E-E0A5-FA1B-DB53-7808B362C9C4}"/>
              </a:ext>
            </a:extLst>
          </p:cNvPr>
          <p:cNvSpPr txBox="1"/>
          <p:nvPr/>
        </p:nvSpPr>
        <p:spPr>
          <a:xfrm>
            <a:off x="10489353" y="704020"/>
            <a:ext cx="638387" cy="632651"/>
          </a:xfrm>
          <a:prstGeom prst="rect">
            <a:avLst/>
          </a:prstGeom>
        </p:spPr>
        <p:txBody>
          <a:bodyPr vert="horz" wrap="square" lIns="0" tIns="16933" rIns="0" bIns="0" rtlCol="0">
            <a:spAutoFit/>
          </a:bodyPr>
          <a:lstStyle/>
          <a:p>
            <a:pPr marL="16933" defTabSz="1219170">
              <a:spcBef>
                <a:spcPts val="133"/>
              </a:spcBef>
            </a:pPr>
            <a:r>
              <a:rPr sz="4000" b="1" kern="0" spc="-227" dirty="0">
                <a:solidFill>
                  <a:srgbClr val="71FFDD"/>
                </a:solidFill>
                <a:latin typeface="Trebuchet MS"/>
                <a:cs typeface="Trebuchet MS"/>
              </a:rPr>
              <a:t>//</a:t>
            </a:r>
            <a:r>
              <a:rPr sz="4000" b="1" kern="0" spc="-227" dirty="0">
                <a:solidFill>
                  <a:srgbClr val="71FFFF"/>
                </a:solidFill>
                <a:latin typeface="Trebuchet MS"/>
                <a:cs typeface="Trebuchet MS"/>
              </a:rPr>
              <a:t>&gt;</a:t>
            </a:r>
            <a:endParaRPr sz="4000" kern="0">
              <a:solidFill>
                <a:sysClr val="windowText" lastClr="000000"/>
              </a:solidFill>
              <a:latin typeface="Trebuchet MS"/>
              <a:cs typeface="Trebuchet MS"/>
            </a:endParaRPr>
          </a:p>
        </p:txBody>
      </p:sp>
      <p:sp>
        <p:nvSpPr>
          <p:cNvPr id="7" name="object 7">
            <a:extLst>
              <a:ext uri="{FF2B5EF4-FFF2-40B4-BE49-F238E27FC236}">
                <a16:creationId xmlns:a16="http://schemas.microsoft.com/office/drawing/2014/main" id="{5DA32947-FF45-358B-2BDD-C142369D37C0}"/>
              </a:ext>
            </a:extLst>
          </p:cNvPr>
          <p:cNvSpPr txBox="1"/>
          <p:nvPr/>
        </p:nvSpPr>
        <p:spPr>
          <a:xfrm>
            <a:off x="1065310" y="704020"/>
            <a:ext cx="637540" cy="632651"/>
          </a:xfrm>
          <a:prstGeom prst="rect">
            <a:avLst/>
          </a:prstGeom>
        </p:spPr>
        <p:txBody>
          <a:bodyPr vert="horz" wrap="square" lIns="0" tIns="16933" rIns="0" bIns="0" rtlCol="0">
            <a:spAutoFit/>
          </a:bodyPr>
          <a:lstStyle/>
          <a:p>
            <a:pPr marL="16933" defTabSz="1219170">
              <a:spcBef>
                <a:spcPts val="133"/>
              </a:spcBef>
            </a:pPr>
            <a:r>
              <a:rPr sz="4000" b="1" kern="0" spc="-233" dirty="0">
                <a:solidFill>
                  <a:srgbClr val="71FFFF"/>
                </a:solidFill>
                <a:latin typeface="Trebuchet MS"/>
                <a:cs typeface="Trebuchet MS"/>
              </a:rPr>
              <a:t>&lt;</a:t>
            </a:r>
            <a:r>
              <a:rPr sz="4000" b="1" kern="0" spc="-233" dirty="0">
                <a:solidFill>
                  <a:srgbClr val="71FFDD"/>
                </a:solidFill>
                <a:latin typeface="Trebuchet MS"/>
                <a:cs typeface="Trebuchet MS"/>
              </a:rPr>
              <a:t>//</a:t>
            </a:r>
            <a:endParaRPr sz="4000" kern="0">
              <a:solidFill>
                <a:sysClr val="windowText" lastClr="000000"/>
              </a:solidFill>
              <a:latin typeface="Trebuchet MS"/>
              <a:cs typeface="Trebuchet MS"/>
            </a:endParaRPr>
          </a:p>
        </p:txBody>
      </p:sp>
      <p:sp>
        <p:nvSpPr>
          <p:cNvPr id="8" name="object 8">
            <a:extLst>
              <a:ext uri="{FF2B5EF4-FFF2-40B4-BE49-F238E27FC236}">
                <a16:creationId xmlns:a16="http://schemas.microsoft.com/office/drawing/2014/main" id="{DEB83403-D054-B3DD-F64A-A05C9445BC89}"/>
              </a:ext>
            </a:extLst>
          </p:cNvPr>
          <p:cNvSpPr txBox="1"/>
          <p:nvPr/>
        </p:nvSpPr>
        <p:spPr>
          <a:xfrm>
            <a:off x="528201" y="2819400"/>
            <a:ext cx="4342249" cy="1987724"/>
          </a:xfrm>
          <a:prstGeom prst="rect">
            <a:avLst/>
          </a:prstGeom>
        </p:spPr>
        <p:txBody>
          <a:bodyPr vert="horz" wrap="square" lIns="0" tIns="17780" rIns="0" bIns="0" rtlCol="0">
            <a:spAutoFit/>
          </a:bodyPr>
          <a:lstStyle/>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a:solidFill>
                  <a:prstClr val="white"/>
                </a:solidFill>
                <a:latin typeface="Arial" panose="020B0604020202020204" pitchFamily="34" charset="0"/>
              </a:rPr>
              <a:t>An Artificial Neural Network (ANN) is a model inspired by the structure of the human brain, learning patterns by adjusting interconnected layers of weighted nodes.</a:t>
            </a:r>
          </a:p>
          <a:p>
            <a:pPr marL="228594" indent="-228594" defTabSz="1219170" eaLnBrk="0" fontAlgn="base" hangingPunct="0">
              <a:spcBef>
                <a:spcPct val="0"/>
              </a:spcBef>
              <a:spcAft>
                <a:spcPct val="0"/>
              </a:spcAft>
              <a:buClr>
                <a:srgbClr val="FFFF00"/>
              </a:buClr>
              <a:buFont typeface="Wingdings" panose="05000000000000000000" pitchFamily="2" charset="2"/>
              <a:buChar char="Ø"/>
            </a:pPr>
            <a:r>
              <a:rPr lang="en-US" altLang="en-US" sz="1600" kern="0" dirty="0">
                <a:solidFill>
                  <a:prstClr val="white"/>
                </a:solidFill>
                <a:latin typeface="Arial" panose="020B0604020202020204" pitchFamily="34" charset="0"/>
              </a:rPr>
              <a:t>Testing accuracy reached </a:t>
            </a:r>
            <a:r>
              <a:rPr lang="en-US" altLang="en-US" sz="1600" b="1" kern="0" dirty="0">
                <a:solidFill>
                  <a:prstClr val="white"/>
                </a:solidFill>
                <a:latin typeface="Arial" panose="020B0604020202020204" pitchFamily="34" charset="0"/>
              </a:rPr>
              <a:t>92%</a:t>
            </a:r>
            <a:r>
              <a:rPr lang="en-US" altLang="en-US" sz="1600" kern="0" dirty="0">
                <a:solidFill>
                  <a:prstClr val="white"/>
                </a:solidFill>
                <a:latin typeface="Arial" panose="020B0604020202020204" pitchFamily="34" charset="0"/>
              </a:rPr>
              <a:t> while the highest training accuracy remained around </a:t>
            </a:r>
            <a:r>
              <a:rPr lang="en-US" altLang="en-US" sz="1600" b="1" kern="0" dirty="0">
                <a:solidFill>
                  <a:prstClr val="white"/>
                </a:solidFill>
                <a:latin typeface="Arial" panose="020B0604020202020204" pitchFamily="34" charset="0"/>
              </a:rPr>
              <a:t>72%</a:t>
            </a:r>
            <a:r>
              <a:rPr lang="en-US" altLang="en-US" sz="1600" kern="0" dirty="0">
                <a:solidFill>
                  <a:prstClr val="white"/>
                </a:solidFill>
                <a:latin typeface="Arial" panose="020B0604020202020204" pitchFamily="34" charset="0"/>
              </a:rPr>
              <a:t> showing the model </a:t>
            </a:r>
            <a:r>
              <a:rPr lang="en-US" altLang="en-US" sz="1600" kern="0" dirty="0" err="1">
                <a:solidFill>
                  <a:prstClr val="white"/>
                </a:solidFill>
                <a:latin typeface="Arial" panose="020B0604020202020204" pitchFamily="34" charset="0"/>
              </a:rPr>
              <a:t>generalised</a:t>
            </a:r>
            <a:r>
              <a:rPr lang="en-US" altLang="en-US" sz="1600" kern="0" dirty="0">
                <a:solidFill>
                  <a:prstClr val="white"/>
                </a:solidFill>
                <a:latin typeface="Arial" panose="020B0604020202020204" pitchFamily="34" charset="0"/>
              </a:rPr>
              <a:t> well but learned less from the training set.</a:t>
            </a:r>
          </a:p>
        </p:txBody>
      </p:sp>
      <p:pic>
        <p:nvPicPr>
          <p:cNvPr id="10" name="Picture 9">
            <a:extLst>
              <a:ext uri="{FF2B5EF4-FFF2-40B4-BE49-F238E27FC236}">
                <a16:creationId xmlns:a16="http://schemas.microsoft.com/office/drawing/2014/main" id="{945CEB77-EF8D-C89C-E083-4C33D9D70E14}"/>
              </a:ext>
            </a:extLst>
          </p:cNvPr>
          <p:cNvPicPr>
            <a:picLocks noChangeAspect="1"/>
          </p:cNvPicPr>
          <p:nvPr/>
        </p:nvPicPr>
        <p:blipFill>
          <a:blip r:embed="rId3"/>
          <a:stretch>
            <a:fillRect/>
          </a:stretch>
        </p:blipFill>
        <p:spPr>
          <a:xfrm>
            <a:off x="5221224" y="1580361"/>
            <a:ext cx="6576123" cy="4661171"/>
          </a:xfrm>
          <a:prstGeom prst="rect">
            <a:avLst/>
          </a:prstGeom>
        </p:spPr>
      </p:pic>
    </p:spTree>
    <p:extLst>
      <p:ext uri="{BB962C8B-B14F-4D97-AF65-F5344CB8AC3E}">
        <p14:creationId xmlns:p14="http://schemas.microsoft.com/office/powerpoint/2010/main" val="2270977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FB02A-4507-B721-9ADD-1EDE45CA887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5D6171-73C0-B2C1-466F-3C6366D704CD}"/>
              </a:ext>
            </a:extLst>
          </p:cNvPr>
          <p:cNvSpPr txBox="1">
            <a:spLocks noGrp="1"/>
          </p:cNvSpPr>
          <p:nvPr>
            <p:ph type="title"/>
          </p:nvPr>
        </p:nvSpPr>
        <p:spPr>
          <a:xfrm>
            <a:off x="4876801" y="858597"/>
            <a:ext cx="4064847" cy="385576"/>
          </a:xfrm>
          <a:prstGeom prst="rect">
            <a:avLst/>
          </a:prstGeom>
        </p:spPr>
        <p:txBody>
          <a:bodyPr vert="horz" wrap="square" lIns="0" tIns="16087" rIns="0" bIns="0" rtlCol="0">
            <a:spAutoFit/>
          </a:bodyPr>
          <a:lstStyle/>
          <a:p>
            <a:pPr marL="16933">
              <a:spcBef>
                <a:spcPts val="127"/>
              </a:spcBef>
            </a:pPr>
            <a:r>
              <a:rPr lang="tr-TR" sz="2400" spc="-160" dirty="0" err="1">
                <a:latin typeface="Arial" panose="020B0604020202020204" pitchFamily="34" charset="0"/>
                <a:cs typeface="Arial" panose="020B0604020202020204" pitchFamily="34" charset="0"/>
              </a:rPr>
              <a:t>Next</a:t>
            </a:r>
            <a:r>
              <a:rPr lang="tr-TR" sz="2400" spc="-160" dirty="0">
                <a:latin typeface="Arial" panose="020B0604020202020204" pitchFamily="34" charset="0"/>
                <a:cs typeface="Arial" panose="020B0604020202020204" pitchFamily="34" charset="0"/>
              </a:rPr>
              <a:t> </a:t>
            </a:r>
            <a:r>
              <a:rPr lang="tr-TR" sz="2400" spc="-160" dirty="0" err="1">
                <a:latin typeface="Arial" panose="020B0604020202020204" pitchFamily="34" charset="0"/>
                <a:cs typeface="Arial" panose="020B0604020202020204" pitchFamily="34" charset="0"/>
              </a:rPr>
              <a:t>steps</a:t>
            </a:r>
            <a:r>
              <a:rPr lang="tr-TR" sz="2400" spc="-160" dirty="0">
                <a:latin typeface="Arial" panose="020B0604020202020204" pitchFamily="34" charset="0"/>
                <a:cs typeface="Arial" panose="020B0604020202020204" pitchFamily="34" charset="0"/>
              </a:rPr>
              <a:t> </a:t>
            </a:r>
            <a:endParaRPr sz="2400" dirty="0">
              <a:latin typeface="Arial" panose="020B0604020202020204" pitchFamily="34" charset="0"/>
              <a:cs typeface="Arial" panose="020B0604020202020204" pitchFamily="34" charset="0"/>
            </a:endParaRPr>
          </a:p>
        </p:txBody>
      </p:sp>
      <p:sp>
        <p:nvSpPr>
          <p:cNvPr id="3" name="object 3">
            <a:extLst>
              <a:ext uri="{FF2B5EF4-FFF2-40B4-BE49-F238E27FC236}">
                <a16:creationId xmlns:a16="http://schemas.microsoft.com/office/drawing/2014/main" id="{B1AE6A84-7843-745E-8FD8-9D33AE98C425}"/>
              </a:ext>
            </a:extLst>
          </p:cNvPr>
          <p:cNvSpPr txBox="1"/>
          <p:nvPr/>
        </p:nvSpPr>
        <p:spPr>
          <a:xfrm>
            <a:off x="1219200" y="857741"/>
            <a:ext cx="10061787" cy="386430"/>
          </a:xfrm>
          <a:prstGeom prst="rect">
            <a:avLst/>
          </a:prstGeom>
        </p:spPr>
        <p:txBody>
          <a:bodyPr vert="horz" wrap="square" lIns="0" tIns="16933" rIns="0" bIns="0" rtlCol="0">
            <a:spAutoFit/>
          </a:bodyPr>
          <a:lstStyle/>
          <a:p>
            <a:pPr marL="16933" defTabSz="1219170">
              <a:spcBef>
                <a:spcPts val="133"/>
              </a:spcBef>
              <a:tabLst>
                <a:tab pos="9440097" algn="l"/>
              </a:tabLst>
            </a:pPr>
            <a:r>
              <a:rPr lang="en-US" sz="2400" b="1" kern="0" spc="-33" dirty="0">
                <a:solidFill>
                  <a:srgbClr val="71FFFF"/>
                </a:solidFill>
                <a:latin typeface="Arial" panose="020B0604020202020204" pitchFamily="34" charset="0"/>
                <a:cs typeface="Arial" panose="020B0604020202020204" pitchFamily="34" charset="0"/>
              </a:rPr>
              <a:t>&lt;</a:t>
            </a:r>
            <a:r>
              <a:rPr lang="en-US" sz="2400" b="1" kern="0" spc="-33" dirty="0">
                <a:solidFill>
                  <a:srgbClr val="71FFDD"/>
                </a:solidFill>
                <a:latin typeface="Arial" panose="020B0604020202020204" pitchFamily="34" charset="0"/>
                <a:cs typeface="Arial" panose="020B0604020202020204" pitchFamily="34" charset="0"/>
              </a:rPr>
              <a:t>//</a:t>
            </a:r>
            <a:r>
              <a:rPr lang="en-US" sz="2400" b="1" kern="0" dirty="0">
                <a:solidFill>
                  <a:srgbClr val="71FFDD"/>
                </a:solidFill>
                <a:latin typeface="Arial" panose="020B0604020202020204" pitchFamily="34" charset="0"/>
                <a:cs typeface="Arial" panose="020B0604020202020204" pitchFamily="34" charset="0"/>
              </a:rPr>
              <a:t>	</a:t>
            </a:r>
            <a:r>
              <a:rPr lang="en-US" sz="2400" b="1" kern="0" spc="-227" dirty="0">
                <a:solidFill>
                  <a:srgbClr val="71FFDD"/>
                </a:solidFill>
                <a:latin typeface="Arial" panose="020B0604020202020204" pitchFamily="34" charset="0"/>
                <a:cs typeface="Arial" panose="020B0604020202020204" pitchFamily="34" charset="0"/>
              </a:rPr>
              <a:t>//</a:t>
            </a:r>
            <a:r>
              <a:rPr lang="en-US" sz="2400" b="1" kern="0" spc="-227" dirty="0">
                <a:solidFill>
                  <a:srgbClr val="71FFFF"/>
                </a:solidFill>
                <a:latin typeface="Arial" panose="020B0604020202020204" pitchFamily="34" charset="0"/>
                <a:cs typeface="Arial" panose="020B0604020202020204" pitchFamily="34" charset="0"/>
              </a:rPr>
              <a:t>&gt;</a:t>
            </a:r>
            <a:endParaRPr sz="2400" kern="0" dirty="0">
              <a:solidFill>
                <a:sysClr val="windowText" lastClr="000000"/>
              </a:solidFill>
              <a:latin typeface="Arial" panose="020B0604020202020204" pitchFamily="34" charset="0"/>
              <a:cs typeface="Arial" panose="020B0604020202020204" pitchFamily="34" charset="0"/>
            </a:endParaRPr>
          </a:p>
        </p:txBody>
      </p:sp>
      <p:sp>
        <p:nvSpPr>
          <p:cNvPr id="9" name="Rectangle 5">
            <a:extLst>
              <a:ext uri="{FF2B5EF4-FFF2-40B4-BE49-F238E27FC236}">
                <a16:creationId xmlns:a16="http://schemas.microsoft.com/office/drawing/2014/main" id="{B2DA4F16-C56F-A054-E519-D1414D24770B}"/>
              </a:ext>
            </a:extLst>
          </p:cNvPr>
          <p:cNvSpPr>
            <a:spLocks noChangeArrowheads="1"/>
          </p:cNvSpPr>
          <p:nvPr/>
        </p:nvSpPr>
        <p:spPr bwMode="auto">
          <a:xfrm>
            <a:off x="914400" y="1986050"/>
            <a:ext cx="10179485" cy="3118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marL="380990" indent="-380990" defTabSz="1219170" eaLnBrk="0" fontAlgn="base" hangingPunct="0">
              <a:spcBef>
                <a:spcPct val="0"/>
              </a:spcBef>
              <a:spcAft>
                <a:spcPct val="0"/>
              </a:spcAft>
              <a:buClr>
                <a:srgbClr val="FFFF00"/>
              </a:buClr>
              <a:buFont typeface="Wingdings" panose="05000000000000000000" pitchFamily="2" charset="2"/>
              <a:buChar char="Ø"/>
            </a:pPr>
            <a:r>
              <a:rPr lang="en-US" sz="1600" kern="0" dirty="0">
                <a:solidFill>
                  <a:prstClr val="white"/>
                </a:solidFill>
              </a:rPr>
              <a:t>Expand the dataset by incorporating additional weather stations</a:t>
            </a:r>
            <a:endParaRPr lang="tr-TR" sz="1600" kern="0" dirty="0">
              <a:solidFill>
                <a:prstClr val="white"/>
              </a:solidFill>
            </a:endParaRPr>
          </a:p>
          <a:p>
            <a:pPr marL="380990" indent="-380990" defTabSz="1219170" eaLnBrk="0" fontAlgn="base" hangingPunct="0">
              <a:spcBef>
                <a:spcPct val="0"/>
              </a:spcBef>
              <a:spcAft>
                <a:spcPct val="0"/>
              </a:spcAft>
              <a:buClr>
                <a:srgbClr val="FFFF00"/>
              </a:buClr>
              <a:buFont typeface="Wingdings" panose="05000000000000000000" pitchFamily="2" charset="2"/>
              <a:buChar char="Ø"/>
            </a:pPr>
            <a:r>
              <a:rPr lang="en-US" sz="1600" kern="0" dirty="0">
                <a:solidFill>
                  <a:prstClr val="white"/>
                </a:solidFill>
              </a:rPr>
              <a:t>Reevaluate the </a:t>
            </a:r>
            <a:r>
              <a:rPr lang="en-US" sz="1600" kern="0" dirty="0" err="1">
                <a:solidFill>
                  <a:prstClr val="white"/>
                </a:solidFill>
              </a:rPr>
              <a:t>Sonnblick</a:t>
            </a:r>
            <a:r>
              <a:rPr lang="en-US" sz="1600" kern="0" dirty="0">
                <a:solidFill>
                  <a:prstClr val="white"/>
                </a:solidFill>
              </a:rPr>
              <a:t> station by replacing or augmenting its dataset, as the current single</a:t>
            </a:r>
            <a:r>
              <a:rPr lang="tr-TR" sz="1600" kern="0" dirty="0">
                <a:solidFill>
                  <a:prstClr val="white"/>
                </a:solidFill>
              </a:rPr>
              <a:t> </a:t>
            </a:r>
            <a:r>
              <a:rPr lang="en-US" sz="1600" kern="0" dirty="0">
                <a:solidFill>
                  <a:prstClr val="white"/>
                </a:solidFill>
              </a:rPr>
              <a:t>class structure prevents the model from learning any meaningful decision boundaries.</a:t>
            </a:r>
            <a:endParaRPr lang="tr-TR" sz="1600" kern="0" dirty="0">
              <a:solidFill>
                <a:prstClr val="white"/>
              </a:solidFill>
            </a:endParaRPr>
          </a:p>
          <a:p>
            <a:pPr defTabSz="1219170" eaLnBrk="0" fontAlgn="base" hangingPunct="0">
              <a:spcBef>
                <a:spcPct val="0"/>
              </a:spcBef>
              <a:spcAft>
                <a:spcPct val="0"/>
              </a:spcAft>
              <a:buClr>
                <a:srgbClr val="FFFF00"/>
              </a:buClr>
            </a:pPr>
            <a:r>
              <a:rPr lang="tr-TR" sz="1867" b="1" kern="0" dirty="0">
                <a:solidFill>
                  <a:prstClr val="white"/>
                </a:solidFill>
              </a:rPr>
              <a:t>H</a:t>
            </a:r>
            <a:r>
              <a:rPr lang="en-US" sz="1867" b="1" kern="0" dirty="0" err="1">
                <a:solidFill>
                  <a:prstClr val="white"/>
                </a:solidFill>
              </a:rPr>
              <a:t>ypotheses</a:t>
            </a:r>
            <a:r>
              <a:rPr lang="en-US" sz="1867" b="1" kern="0" dirty="0">
                <a:solidFill>
                  <a:prstClr val="white"/>
                </a:solidFill>
              </a:rPr>
              <a:t> will </a:t>
            </a:r>
            <a:r>
              <a:rPr lang="tr-TR" sz="1867" b="1" kern="0" dirty="0">
                <a:solidFill>
                  <a:prstClr val="white"/>
                </a:solidFill>
              </a:rPr>
              <a:t>be </a:t>
            </a:r>
            <a:r>
              <a:rPr lang="en-US" sz="1867" b="1" kern="0" dirty="0">
                <a:solidFill>
                  <a:prstClr val="white"/>
                </a:solidFill>
              </a:rPr>
              <a:t>test</a:t>
            </a:r>
            <a:r>
              <a:rPr lang="tr-TR" sz="1867" b="1" kern="0" dirty="0" err="1">
                <a:solidFill>
                  <a:prstClr val="white"/>
                </a:solidFill>
              </a:rPr>
              <a:t>ed</a:t>
            </a:r>
            <a:r>
              <a:rPr lang="en-US" sz="1867" b="1" kern="0" dirty="0">
                <a:solidFill>
                  <a:prstClr val="white"/>
                </a:solidFill>
              </a:rPr>
              <a:t> using an ANN</a:t>
            </a:r>
            <a:r>
              <a:rPr lang="tr-TR" sz="1867" b="1" kern="0" dirty="0">
                <a:solidFill>
                  <a:prstClr val="white"/>
                </a:solidFill>
              </a:rPr>
              <a:t>;</a:t>
            </a:r>
          </a:p>
          <a:p>
            <a:pPr marL="228594" indent="-228594" defTabSz="1219170" eaLnBrk="0" fontAlgn="base" hangingPunct="0">
              <a:spcBef>
                <a:spcPct val="0"/>
              </a:spcBef>
              <a:spcAft>
                <a:spcPct val="0"/>
              </a:spcAft>
              <a:buClr>
                <a:srgbClr val="FFFF00"/>
              </a:buClr>
              <a:buFont typeface="Arial" panose="020B0604020202020204" pitchFamily="34" charset="0"/>
              <a:buChar char="•"/>
            </a:pPr>
            <a:r>
              <a:rPr lang="en-US" sz="1600" kern="0" dirty="0">
                <a:solidFill>
                  <a:prstClr val="white"/>
                </a:solidFill>
              </a:rPr>
              <a:t>Machine learning can detect early signs of long-term climate change by finding subtle patterns in temperature, precipitation and extreme</a:t>
            </a:r>
            <a:r>
              <a:rPr lang="tr-TR" sz="1600" kern="0" dirty="0">
                <a:solidFill>
                  <a:prstClr val="white"/>
                </a:solidFill>
              </a:rPr>
              <a:t> </a:t>
            </a:r>
            <a:r>
              <a:rPr lang="en-US" sz="1600" kern="0" dirty="0">
                <a:solidFill>
                  <a:prstClr val="white"/>
                </a:solidFill>
              </a:rPr>
              <a:t>event frequency.</a:t>
            </a:r>
            <a:br>
              <a:rPr lang="en-US" sz="1600" kern="0" dirty="0">
                <a:solidFill>
                  <a:prstClr val="white"/>
                </a:solidFill>
              </a:rPr>
            </a:br>
            <a:r>
              <a:rPr lang="en-US" sz="1600" kern="0" dirty="0">
                <a:solidFill>
                  <a:prstClr val="white"/>
                </a:solidFill>
              </a:rPr>
              <a:t>Machine learning can classify each day as pleasant or unpleasant by learning from historical weather patterns across multiple variables.</a:t>
            </a:r>
            <a:br>
              <a:rPr lang="en-US" sz="1600" kern="0" dirty="0">
                <a:solidFill>
                  <a:prstClr val="white"/>
                </a:solidFill>
              </a:rPr>
            </a:br>
            <a:r>
              <a:rPr lang="en-US" sz="1600" kern="0" dirty="0">
                <a:solidFill>
                  <a:prstClr val="white"/>
                </a:solidFill>
              </a:rPr>
              <a:t>Machine learning can estimate the likelihood of hazardous weather events by identifying early warning signals within multivariate climate data.</a:t>
            </a:r>
            <a:endParaRPr lang="tr-TR" sz="1600" kern="0" dirty="0">
              <a:solidFill>
                <a:prstClr val="white"/>
              </a:solidFill>
            </a:endParaRPr>
          </a:p>
          <a:p>
            <a:pPr defTabSz="1219170" eaLnBrk="0" fontAlgn="base" hangingPunct="0">
              <a:spcBef>
                <a:spcPct val="0"/>
              </a:spcBef>
              <a:spcAft>
                <a:spcPct val="0"/>
              </a:spcAft>
              <a:buClr>
                <a:srgbClr val="FFFF00"/>
              </a:buClr>
            </a:pPr>
            <a:endParaRPr lang="tr-TR" sz="1600" kern="0" dirty="0">
              <a:solidFill>
                <a:prstClr val="white"/>
              </a:solidFill>
            </a:endParaRPr>
          </a:p>
          <a:p>
            <a:pPr marL="380990" indent="-380990" defTabSz="1219170" eaLnBrk="0" fontAlgn="base" hangingPunct="0">
              <a:spcBef>
                <a:spcPct val="0"/>
              </a:spcBef>
              <a:spcAft>
                <a:spcPct val="0"/>
              </a:spcAft>
              <a:buClr>
                <a:srgbClr val="FFFF00"/>
              </a:buClr>
              <a:buFont typeface="Wingdings" panose="05000000000000000000" pitchFamily="2" charset="2"/>
              <a:buChar char="Ø"/>
            </a:pPr>
            <a:endParaRPr lang="en-US" altLang="en-US" sz="1600" kern="0" dirty="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000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D747-FFC6-2433-80B0-2C3252FECB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EA9D93D-1B76-0F07-8CE1-825410791BF5}"/>
              </a:ext>
            </a:extLst>
          </p:cNvPr>
          <p:cNvSpPr txBox="1">
            <a:spLocks noGrp="1"/>
          </p:cNvSpPr>
          <p:nvPr>
            <p:ph type="title"/>
          </p:nvPr>
        </p:nvSpPr>
        <p:spPr>
          <a:xfrm>
            <a:off x="4775201" y="919451"/>
            <a:ext cx="3353647" cy="385576"/>
          </a:xfrm>
          <a:prstGeom prst="rect">
            <a:avLst/>
          </a:prstGeom>
        </p:spPr>
        <p:txBody>
          <a:bodyPr vert="horz" wrap="square" lIns="0" tIns="16087" rIns="0" bIns="0" rtlCol="0">
            <a:spAutoFit/>
          </a:bodyPr>
          <a:lstStyle/>
          <a:p>
            <a:pPr marL="16933">
              <a:spcBef>
                <a:spcPts val="127"/>
              </a:spcBef>
            </a:pPr>
            <a:r>
              <a:rPr lang="tr-TR" sz="2400" spc="-160" dirty="0" err="1">
                <a:latin typeface="Arial" panose="020B0604020202020204" pitchFamily="34" charset="0"/>
                <a:cs typeface="Arial" panose="020B0604020202020204" pitchFamily="34" charset="0"/>
              </a:rPr>
              <a:t>Summary</a:t>
            </a:r>
            <a:r>
              <a:rPr lang="tr-TR" sz="2400" spc="-160" dirty="0">
                <a:latin typeface="Arial" panose="020B0604020202020204" pitchFamily="34" charset="0"/>
                <a:cs typeface="Arial" panose="020B0604020202020204" pitchFamily="34" charset="0"/>
              </a:rPr>
              <a:t> </a:t>
            </a:r>
            <a:endParaRPr sz="2400" dirty="0">
              <a:latin typeface="Arial" panose="020B0604020202020204" pitchFamily="34" charset="0"/>
              <a:cs typeface="Arial" panose="020B0604020202020204" pitchFamily="34" charset="0"/>
            </a:endParaRPr>
          </a:p>
        </p:txBody>
      </p:sp>
      <p:sp>
        <p:nvSpPr>
          <p:cNvPr id="3" name="object 3">
            <a:extLst>
              <a:ext uri="{FF2B5EF4-FFF2-40B4-BE49-F238E27FC236}">
                <a16:creationId xmlns:a16="http://schemas.microsoft.com/office/drawing/2014/main" id="{3E06A615-24EC-CEEA-542D-FD263FAF394C}"/>
              </a:ext>
            </a:extLst>
          </p:cNvPr>
          <p:cNvSpPr txBox="1"/>
          <p:nvPr/>
        </p:nvSpPr>
        <p:spPr>
          <a:xfrm>
            <a:off x="1219200" y="857741"/>
            <a:ext cx="10061787" cy="386430"/>
          </a:xfrm>
          <a:prstGeom prst="rect">
            <a:avLst/>
          </a:prstGeom>
        </p:spPr>
        <p:txBody>
          <a:bodyPr vert="horz" wrap="square" lIns="0" tIns="16933" rIns="0" bIns="0" rtlCol="0">
            <a:spAutoFit/>
          </a:bodyPr>
          <a:lstStyle/>
          <a:p>
            <a:pPr marL="16933" defTabSz="1219170">
              <a:spcBef>
                <a:spcPts val="133"/>
              </a:spcBef>
              <a:tabLst>
                <a:tab pos="9440097" algn="l"/>
              </a:tabLst>
            </a:pPr>
            <a:r>
              <a:rPr lang="en-US" sz="2400" b="1" kern="0" spc="-33" dirty="0">
                <a:solidFill>
                  <a:srgbClr val="71FFFF"/>
                </a:solidFill>
                <a:latin typeface="Arial" panose="020B0604020202020204" pitchFamily="34" charset="0"/>
                <a:cs typeface="Arial" panose="020B0604020202020204" pitchFamily="34" charset="0"/>
              </a:rPr>
              <a:t>&lt;</a:t>
            </a:r>
            <a:r>
              <a:rPr lang="en-US" sz="2400" b="1" kern="0" spc="-33" dirty="0">
                <a:solidFill>
                  <a:srgbClr val="71FFDD"/>
                </a:solidFill>
                <a:latin typeface="Arial" panose="020B0604020202020204" pitchFamily="34" charset="0"/>
                <a:cs typeface="Arial" panose="020B0604020202020204" pitchFamily="34" charset="0"/>
              </a:rPr>
              <a:t>//</a:t>
            </a:r>
            <a:r>
              <a:rPr lang="en-US" sz="2400" b="1" kern="0" dirty="0">
                <a:solidFill>
                  <a:srgbClr val="71FFDD"/>
                </a:solidFill>
                <a:latin typeface="Arial" panose="020B0604020202020204" pitchFamily="34" charset="0"/>
                <a:cs typeface="Arial" panose="020B0604020202020204" pitchFamily="34" charset="0"/>
              </a:rPr>
              <a:t>	</a:t>
            </a:r>
            <a:r>
              <a:rPr lang="en-US" sz="2400" b="1" kern="0" spc="-227" dirty="0">
                <a:solidFill>
                  <a:srgbClr val="71FFDD"/>
                </a:solidFill>
                <a:latin typeface="Arial" panose="020B0604020202020204" pitchFamily="34" charset="0"/>
                <a:cs typeface="Arial" panose="020B0604020202020204" pitchFamily="34" charset="0"/>
              </a:rPr>
              <a:t>//</a:t>
            </a:r>
            <a:r>
              <a:rPr lang="en-US" sz="2400" b="1" kern="0" spc="-227" dirty="0">
                <a:solidFill>
                  <a:srgbClr val="71FFFF"/>
                </a:solidFill>
                <a:latin typeface="Arial" panose="020B0604020202020204" pitchFamily="34" charset="0"/>
                <a:cs typeface="Arial" panose="020B0604020202020204" pitchFamily="34" charset="0"/>
              </a:rPr>
              <a:t>&gt;</a:t>
            </a:r>
            <a:endParaRPr sz="2400" kern="0" dirty="0">
              <a:solidFill>
                <a:sysClr val="windowText" lastClr="000000"/>
              </a:solidFill>
              <a:latin typeface="Arial" panose="020B0604020202020204" pitchFamily="34" charset="0"/>
              <a:cs typeface="Arial" panose="020B0604020202020204" pitchFamily="34" charset="0"/>
            </a:endParaRPr>
          </a:p>
        </p:txBody>
      </p:sp>
      <p:sp>
        <p:nvSpPr>
          <p:cNvPr id="9" name="Rectangle 5">
            <a:extLst>
              <a:ext uri="{FF2B5EF4-FFF2-40B4-BE49-F238E27FC236}">
                <a16:creationId xmlns:a16="http://schemas.microsoft.com/office/drawing/2014/main" id="{BDC435F3-BDF2-D46E-D00E-19DA410052A2}"/>
              </a:ext>
            </a:extLst>
          </p:cNvPr>
          <p:cNvSpPr>
            <a:spLocks noChangeArrowheads="1"/>
          </p:cNvSpPr>
          <p:nvPr/>
        </p:nvSpPr>
        <p:spPr bwMode="auto">
          <a:xfrm>
            <a:off x="508000" y="2413001"/>
            <a:ext cx="10179485"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marL="380990" indent="-380990" defTabSz="1219170" eaLnBrk="0" fontAlgn="base" hangingPunct="0">
              <a:spcBef>
                <a:spcPct val="0"/>
              </a:spcBef>
              <a:spcAft>
                <a:spcPct val="0"/>
              </a:spcAft>
              <a:buClr>
                <a:srgbClr val="FFFF00"/>
              </a:buClr>
              <a:buFont typeface="Wingdings" panose="05000000000000000000" pitchFamily="2" charset="2"/>
              <a:buChar char="Ø"/>
            </a:pPr>
            <a:r>
              <a:rPr lang="en-US" sz="1600" kern="0" dirty="0">
                <a:solidFill>
                  <a:prstClr val="white"/>
                </a:solidFill>
                <a:latin typeface="Arial" panose="020B0604020202020204" pitchFamily="34" charset="0"/>
                <a:cs typeface="Arial" panose="020B0604020202020204" pitchFamily="34" charset="0"/>
              </a:rPr>
              <a:t>ANN should be preferred overall. Although </a:t>
            </a:r>
            <a:r>
              <a:rPr lang="tr-TR" sz="1600" kern="0" dirty="0">
                <a:solidFill>
                  <a:prstClr val="white"/>
                </a:solidFill>
                <a:latin typeface="Arial" panose="020B0604020202020204" pitchFamily="34" charset="0"/>
                <a:cs typeface="Arial" panose="020B0604020202020204" pitchFamily="34" charset="0"/>
              </a:rPr>
              <a:t>K-</a:t>
            </a:r>
            <a:r>
              <a:rPr lang="tr-TR" sz="1600" kern="0" dirty="0" err="1">
                <a:solidFill>
                  <a:prstClr val="white"/>
                </a:solidFill>
                <a:latin typeface="Arial" panose="020B0604020202020204" pitchFamily="34" charset="0"/>
                <a:cs typeface="Arial" panose="020B0604020202020204" pitchFamily="34" charset="0"/>
              </a:rPr>
              <a:t>neighbour</a:t>
            </a:r>
            <a:r>
              <a:rPr lang="en-US" sz="1600" kern="0" dirty="0">
                <a:solidFill>
                  <a:prstClr val="white"/>
                </a:solidFill>
                <a:latin typeface="Arial" panose="020B0604020202020204" pitchFamily="34" charset="0"/>
                <a:cs typeface="Arial" panose="020B0604020202020204" pitchFamily="34" charset="0"/>
              </a:rPr>
              <a:t> appears to achieve the high accuracy, its performance declines with higher dimensionality, making it less suitable for complex, multivariate climate data. In contrast, ANN learn nonlinear relationships more effectively and provide stronger predictive capability across diverse features. For this reason, ANNs carry greater analytical value and reliability in hypothesis testing within this project.</a:t>
            </a:r>
            <a:endParaRPr lang="tr-TR" sz="1600" kern="0" dirty="0">
              <a:solidFill>
                <a:prstClr val="white"/>
              </a:solidFill>
              <a:latin typeface="Arial" panose="020B0604020202020204" pitchFamily="34" charset="0"/>
              <a:cs typeface="Arial" panose="020B0604020202020204" pitchFamily="34" charset="0"/>
            </a:endParaRPr>
          </a:p>
          <a:p>
            <a:pPr defTabSz="1219170" eaLnBrk="0" fontAlgn="base" hangingPunct="0">
              <a:spcBef>
                <a:spcPct val="0"/>
              </a:spcBef>
              <a:spcAft>
                <a:spcPct val="0"/>
              </a:spcAft>
              <a:buClr>
                <a:srgbClr val="FFFF00"/>
              </a:buClr>
            </a:pPr>
            <a:endParaRPr lang="en-US" altLang="en-US" sz="1600" kern="0" dirty="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6672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F9DCE8-A4A5-8D16-9943-0872AAB8C10F}"/>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358B2D22-9361-A8F4-B7B2-0E5D7D5AD4FD}"/>
              </a:ext>
            </a:extLst>
          </p:cNvPr>
          <p:cNvPicPr/>
          <p:nvPr/>
        </p:nvPicPr>
        <p:blipFill>
          <a:blip r:embed="rId2" cstate="print"/>
          <a:stretch>
            <a:fillRect/>
          </a:stretch>
        </p:blipFill>
        <p:spPr>
          <a:xfrm>
            <a:off x="-6349" y="-6349"/>
            <a:ext cx="12204700" cy="6870697"/>
          </a:xfrm>
          <a:prstGeom prst="rect">
            <a:avLst/>
          </a:prstGeom>
        </p:spPr>
      </p:pic>
      <p:sp>
        <p:nvSpPr>
          <p:cNvPr id="3" name="object 3">
            <a:extLst>
              <a:ext uri="{FF2B5EF4-FFF2-40B4-BE49-F238E27FC236}">
                <a16:creationId xmlns:a16="http://schemas.microsoft.com/office/drawing/2014/main" id="{9385B3C5-B674-4EAE-B136-642CC7FE648E}"/>
              </a:ext>
            </a:extLst>
          </p:cNvPr>
          <p:cNvSpPr txBox="1"/>
          <p:nvPr/>
        </p:nvSpPr>
        <p:spPr>
          <a:xfrm>
            <a:off x="3143672" y="5229284"/>
            <a:ext cx="5655733" cy="426485"/>
          </a:xfrm>
          <a:prstGeom prst="rect">
            <a:avLst/>
          </a:prstGeom>
        </p:spPr>
        <p:txBody>
          <a:bodyPr vert="horz" wrap="square" lIns="0" tIns="16087" rIns="0" bIns="0" rtlCol="0">
            <a:spAutoFit/>
          </a:bodyPr>
          <a:lstStyle/>
          <a:p>
            <a:pPr algn="ctr" defTabSz="1219170">
              <a:spcBef>
                <a:spcPts val="127"/>
              </a:spcBef>
            </a:pPr>
            <a:r>
              <a:rPr sz="1333" kern="0" spc="-173" dirty="0">
                <a:solidFill>
                  <a:srgbClr val="FFFFFF"/>
                </a:solidFill>
                <a:latin typeface="Tahoma"/>
                <a:cs typeface="Tahoma"/>
              </a:rPr>
              <a:t>CREDITS:</a:t>
            </a:r>
            <a:r>
              <a:rPr sz="1333" kern="0" spc="47" dirty="0">
                <a:solidFill>
                  <a:srgbClr val="FFFFFF"/>
                </a:solidFill>
                <a:latin typeface="Tahoma"/>
                <a:cs typeface="Tahoma"/>
              </a:rPr>
              <a:t> </a:t>
            </a:r>
            <a:r>
              <a:rPr sz="1333" kern="0" spc="-60" dirty="0">
                <a:solidFill>
                  <a:srgbClr val="FFFFFF"/>
                </a:solidFill>
                <a:latin typeface="Tahoma"/>
                <a:cs typeface="Tahoma"/>
              </a:rPr>
              <a:t>This</a:t>
            </a:r>
            <a:r>
              <a:rPr sz="1333" kern="0" spc="-47" dirty="0">
                <a:solidFill>
                  <a:srgbClr val="FFFFFF"/>
                </a:solidFill>
                <a:latin typeface="Tahoma"/>
                <a:cs typeface="Tahoma"/>
              </a:rPr>
              <a:t> </a:t>
            </a:r>
            <a:r>
              <a:rPr sz="1333" kern="0" spc="-60" dirty="0">
                <a:solidFill>
                  <a:srgbClr val="FFFFFF"/>
                </a:solidFill>
                <a:latin typeface="Tahoma"/>
                <a:cs typeface="Tahoma"/>
              </a:rPr>
              <a:t>presentation</a:t>
            </a:r>
            <a:r>
              <a:rPr sz="1333" kern="0" spc="-47" dirty="0">
                <a:solidFill>
                  <a:srgbClr val="FFFFFF"/>
                </a:solidFill>
                <a:latin typeface="Tahoma"/>
                <a:cs typeface="Tahoma"/>
              </a:rPr>
              <a:t> template</a:t>
            </a:r>
            <a:r>
              <a:rPr sz="1333" kern="0" spc="-20" dirty="0">
                <a:solidFill>
                  <a:srgbClr val="FFFFFF"/>
                </a:solidFill>
                <a:latin typeface="Tahoma"/>
                <a:cs typeface="Tahoma"/>
              </a:rPr>
              <a:t> </a:t>
            </a:r>
            <a:r>
              <a:rPr sz="1333" kern="0" spc="-73" dirty="0">
                <a:solidFill>
                  <a:srgbClr val="FFFFFF"/>
                </a:solidFill>
                <a:latin typeface="Tahoma"/>
                <a:cs typeface="Tahoma"/>
              </a:rPr>
              <a:t>was</a:t>
            </a:r>
            <a:r>
              <a:rPr sz="1333" kern="0" spc="-20" dirty="0">
                <a:solidFill>
                  <a:srgbClr val="FFFFFF"/>
                </a:solidFill>
                <a:latin typeface="Tahoma"/>
                <a:cs typeface="Tahoma"/>
              </a:rPr>
              <a:t> </a:t>
            </a:r>
            <a:r>
              <a:rPr sz="1333" kern="0" spc="-80" dirty="0">
                <a:solidFill>
                  <a:srgbClr val="FFFFFF"/>
                </a:solidFill>
                <a:latin typeface="Tahoma"/>
                <a:cs typeface="Tahoma"/>
              </a:rPr>
              <a:t>created</a:t>
            </a:r>
            <a:r>
              <a:rPr sz="1333" kern="0" spc="-13" dirty="0">
                <a:solidFill>
                  <a:srgbClr val="FFFFFF"/>
                </a:solidFill>
                <a:latin typeface="Tahoma"/>
                <a:cs typeface="Tahoma"/>
              </a:rPr>
              <a:t> </a:t>
            </a:r>
            <a:r>
              <a:rPr sz="1333" kern="0" spc="-40" dirty="0">
                <a:solidFill>
                  <a:srgbClr val="FFFFFF"/>
                </a:solidFill>
                <a:latin typeface="Tahoma"/>
                <a:cs typeface="Tahoma"/>
              </a:rPr>
              <a:t>by</a:t>
            </a:r>
            <a:r>
              <a:rPr sz="1333" kern="0" spc="7" dirty="0">
                <a:solidFill>
                  <a:srgbClr val="FFFFFF"/>
                </a:solidFill>
                <a:latin typeface="Tahoma"/>
                <a:cs typeface="Tahoma"/>
              </a:rPr>
              <a:t> </a:t>
            </a:r>
            <a:r>
              <a:rPr sz="1333" b="1" kern="0" dirty="0">
                <a:solidFill>
                  <a:srgbClr val="FFFFFF"/>
                </a:solidFill>
                <a:latin typeface="Trebuchet MS"/>
                <a:cs typeface="Trebuchet MS"/>
                <a:hlinkClick r:id="rId3"/>
              </a:rPr>
              <a:t>Slidesgo</a:t>
            </a:r>
            <a:r>
              <a:rPr sz="1333" kern="0" dirty="0">
                <a:solidFill>
                  <a:srgbClr val="FFFFFF"/>
                </a:solidFill>
                <a:latin typeface="Tahoma"/>
                <a:cs typeface="Tahoma"/>
              </a:rPr>
              <a:t>,</a:t>
            </a:r>
            <a:r>
              <a:rPr sz="1333" kern="0" spc="-27" dirty="0">
                <a:solidFill>
                  <a:srgbClr val="FFFFFF"/>
                </a:solidFill>
                <a:latin typeface="Tahoma"/>
                <a:cs typeface="Tahoma"/>
              </a:rPr>
              <a:t> </a:t>
            </a:r>
            <a:r>
              <a:rPr sz="1333" kern="0" spc="-13" dirty="0">
                <a:solidFill>
                  <a:srgbClr val="FFFFFF"/>
                </a:solidFill>
                <a:latin typeface="Tahoma"/>
                <a:cs typeface="Tahoma"/>
              </a:rPr>
              <a:t>including </a:t>
            </a:r>
            <a:r>
              <a:rPr sz="1333" kern="0" spc="-27" dirty="0">
                <a:solidFill>
                  <a:srgbClr val="FFFFFF"/>
                </a:solidFill>
                <a:latin typeface="Tahoma"/>
                <a:cs typeface="Tahoma"/>
              </a:rPr>
              <a:t>icons</a:t>
            </a:r>
            <a:r>
              <a:rPr sz="1333" kern="0" dirty="0">
                <a:solidFill>
                  <a:srgbClr val="FFFFFF"/>
                </a:solidFill>
                <a:latin typeface="Tahoma"/>
                <a:cs typeface="Tahoma"/>
              </a:rPr>
              <a:t> </a:t>
            </a:r>
            <a:r>
              <a:rPr sz="1333" kern="0" spc="-33" dirty="0">
                <a:solidFill>
                  <a:srgbClr val="FFFFFF"/>
                </a:solidFill>
                <a:latin typeface="Tahoma"/>
                <a:cs typeface="Tahoma"/>
              </a:rPr>
              <a:t>by</a:t>
            </a:r>
            <a:endParaRPr sz="1333" kern="0" dirty="0">
              <a:solidFill>
                <a:sysClr val="windowText" lastClr="000000"/>
              </a:solidFill>
              <a:latin typeface="Tahoma"/>
              <a:cs typeface="Tahoma"/>
            </a:endParaRPr>
          </a:p>
          <a:p>
            <a:pPr algn="ctr" defTabSz="1219170"/>
            <a:r>
              <a:rPr sz="1333" b="1" kern="0" spc="-13" dirty="0">
                <a:solidFill>
                  <a:srgbClr val="FFFFFF"/>
                </a:solidFill>
                <a:latin typeface="Trebuchet MS"/>
                <a:cs typeface="Trebuchet MS"/>
                <a:hlinkClick r:id="rId4"/>
              </a:rPr>
              <a:t>Flaticon</a:t>
            </a:r>
            <a:r>
              <a:rPr sz="1333" b="1" kern="0" spc="-73" dirty="0">
                <a:solidFill>
                  <a:srgbClr val="FFFFFF"/>
                </a:solidFill>
                <a:latin typeface="Trebuchet MS"/>
                <a:cs typeface="Trebuchet MS"/>
              </a:rPr>
              <a:t> </a:t>
            </a:r>
            <a:r>
              <a:rPr sz="1333" kern="0" spc="-87" dirty="0">
                <a:solidFill>
                  <a:srgbClr val="FFFFFF"/>
                </a:solidFill>
                <a:latin typeface="Tahoma"/>
                <a:cs typeface="Tahoma"/>
              </a:rPr>
              <a:t>and</a:t>
            </a:r>
            <a:r>
              <a:rPr sz="1333" kern="0" spc="-20" dirty="0">
                <a:solidFill>
                  <a:srgbClr val="FFFFFF"/>
                </a:solidFill>
                <a:latin typeface="Tahoma"/>
                <a:cs typeface="Tahoma"/>
              </a:rPr>
              <a:t> </a:t>
            </a:r>
            <a:r>
              <a:rPr sz="1333" kern="0" spc="-47" dirty="0">
                <a:solidFill>
                  <a:srgbClr val="FFFFFF"/>
                </a:solidFill>
                <a:latin typeface="Tahoma"/>
                <a:cs typeface="Tahoma"/>
              </a:rPr>
              <a:t>infographics</a:t>
            </a:r>
            <a:r>
              <a:rPr sz="1333" kern="0" spc="-7" dirty="0">
                <a:solidFill>
                  <a:srgbClr val="FFFFFF"/>
                </a:solidFill>
                <a:latin typeface="Tahoma"/>
                <a:cs typeface="Tahoma"/>
              </a:rPr>
              <a:t> </a:t>
            </a:r>
            <a:r>
              <a:rPr sz="1333" kern="0" spc="-200" dirty="0">
                <a:solidFill>
                  <a:srgbClr val="FFFFFF"/>
                </a:solidFill>
                <a:latin typeface="Tahoma"/>
                <a:cs typeface="Tahoma"/>
              </a:rPr>
              <a:t>&amp;</a:t>
            </a:r>
            <a:r>
              <a:rPr sz="1333" kern="0" spc="33" dirty="0">
                <a:solidFill>
                  <a:srgbClr val="FFFFFF"/>
                </a:solidFill>
                <a:latin typeface="Tahoma"/>
                <a:cs typeface="Tahoma"/>
              </a:rPr>
              <a:t> </a:t>
            </a:r>
            <a:r>
              <a:rPr sz="1333" kern="0" spc="-40" dirty="0">
                <a:solidFill>
                  <a:srgbClr val="FFFFFF"/>
                </a:solidFill>
                <a:latin typeface="Tahoma"/>
                <a:cs typeface="Tahoma"/>
              </a:rPr>
              <a:t>images</a:t>
            </a:r>
            <a:r>
              <a:rPr sz="1333" kern="0" spc="-33" dirty="0">
                <a:solidFill>
                  <a:srgbClr val="FFFFFF"/>
                </a:solidFill>
                <a:latin typeface="Tahoma"/>
                <a:cs typeface="Tahoma"/>
              </a:rPr>
              <a:t> </a:t>
            </a:r>
            <a:r>
              <a:rPr sz="1333" kern="0" spc="-73" dirty="0">
                <a:solidFill>
                  <a:srgbClr val="FFFFFF"/>
                </a:solidFill>
                <a:latin typeface="Tahoma"/>
                <a:cs typeface="Tahoma"/>
              </a:rPr>
              <a:t>by</a:t>
            </a:r>
            <a:r>
              <a:rPr sz="1333" kern="0" spc="-27" dirty="0">
                <a:solidFill>
                  <a:srgbClr val="FFFFFF"/>
                </a:solidFill>
                <a:latin typeface="Tahoma"/>
                <a:cs typeface="Tahoma"/>
              </a:rPr>
              <a:t> </a:t>
            </a:r>
            <a:r>
              <a:rPr sz="1333" b="1" kern="0" spc="-13" dirty="0">
                <a:solidFill>
                  <a:srgbClr val="FFFFFF"/>
                </a:solidFill>
                <a:latin typeface="Trebuchet MS"/>
                <a:cs typeface="Trebuchet MS"/>
                <a:hlinkClick r:id="rId5"/>
              </a:rPr>
              <a:t>Freepik</a:t>
            </a:r>
            <a:endParaRPr sz="1333" kern="0" dirty="0">
              <a:solidFill>
                <a:sysClr val="windowText" lastClr="000000"/>
              </a:solidFill>
              <a:latin typeface="Trebuchet MS"/>
              <a:cs typeface="Trebuchet MS"/>
            </a:endParaRPr>
          </a:p>
        </p:txBody>
      </p:sp>
      <p:sp>
        <p:nvSpPr>
          <p:cNvPr id="4" name="object 4">
            <a:extLst>
              <a:ext uri="{FF2B5EF4-FFF2-40B4-BE49-F238E27FC236}">
                <a16:creationId xmlns:a16="http://schemas.microsoft.com/office/drawing/2014/main" id="{5F7977F7-7EAA-C386-9064-BC2878F1AC90}"/>
              </a:ext>
            </a:extLst>
          </p:cNvPr>
          <p:cNvSpPr/>
          <p:nvPr/>
        </p:nvSpPr>
        <p:spPr>
          <a:xfrm>
            <a:off x="955733" y="957580"/>
            <a:ext cx="10261600" cy="5516033"/>
          </a:xfrm>
          <a:custGeom>
            <a:avLst/>
            <a:gdLst/>
            <a:ahLst/>
            <a:cxnLst/>
            <a:rect l="l" t="t" r="r" b="b"/>
            <a:pathLst>
              <a:path w="7696200" h="4137025">
                <a:moveTo>
                  <a:pt x="0" y="4136986"/>
                </a:moveTo>
                <a:lnTo>
                  <a:pt x="7695933" y="4136986"/>
                </a:lnTo>
              </a:path>
              <a:path w="7696200" h="4137025">
                <a:moveTo>
                  <a:pt x="7541247" y="1614551"/>
                </a:moveTo>
                <a:lnTo>
                  <a:pt x="7541247" y="0"/>
                </a:lnTo>
              </a:path>
            </a:pathLst>
          </a:custGeom>
          <a:ln w="19050">
            <a:solidFill>
              <a:srgbClr val="71FFDD"/>
            </a:solidFill>
          </a:ln>
        </p:spPr>
        <p:txBody>
          <a:bodyPr wrap="square" lIns="0" tIns="0" rIns="0" bIns="0" rtlCol="0"/>
          <a:lstStyle/>
          <a:p>
            <a:pPr defTabSz="1219170"/>
            <a:endParaRPr sz="2400" kern="0">
              <a:solidFill>
                <a:sysClr val="windowText" lastClr="000000"/>
              </a:solidFill>
            </a:endParaRPr>
          </a:p>
        </p:txBody>
      </p:sp>
      <p:sp>
        <p:nvSpPr>
          <p:cNvPr id="5" name="object 5">
            <a:extLst>
              <a:ext uri="{FF2B5EF4-FFF2-40B4-BE49-F238E27FC236}">
                <a16:creationId xmlns:a16="http://schemas.microsoft.com/office/drawing/2014/main" id="{9D35D796-A755-6036-F633-5B649AD9F538}"/>
              </a:ext>
            </a:extLst>
          </p:cNvPr>
          <p:cNvSpPr txBox="1">
            <a:spLocks noGrp="1"/>
          </p:cNvSpPr>
          <p:nvPr>
            <p:ph type="title"/>
          </p:nvPr>
        </p:nvSpPr>
        <p:spPr>
          <a:xfrm>
            <a:off x="2551177" y="1281447"/>
            <a:ext cx="6838527" cy="1474634"/>
          </a:xfrm>
          <a:prstGeom prst="rect">
            <a:avLst/>
          </a:prstGeom>
        </p:spPr>
        <p:txBody>
          <a:bodyPr vert="horz" wrap="square" lIns="0" tIns="17780" rIns="0" bIns="0" rtlCol="0">
            <a:spAutoFit/>
          </a:bodyPr>
          <a:lstStyle/>
          <a:p>
            <a:pPr marL="16933">
              <a:spcBef>
                <a:spcPts val="140"/>
              </a:spcBef>
            </a:pPr>
            <a:r>
              <a:rPr sz="9466" spc="-520" dirty="0">
                <a:solidFill>
                  <a:srgbClr val="71FFFF"/>
                </a:solidFill>
              </a:rPr>
              <a:t>&lt;</a:t>
            </a:r>
            <a:r>
              <a:rPr sz="9466" spc="-520" dirty="0">
                <a:solidFill>
                  <a:srgbClr val="71FFDD"/>
                </a:solidFill>
              </a:rPr>
              <a:t>//</a:t>
            </a:r>
            <a:r>
              <a:rPr sz="9466" spc="-520" dirty="0"/>
              <a:t>Contact</a:t>
            </a:r>
            <a:r>
              <a:rPr sz="9466" spc="-520" dirty="0">
                <a:solidFill>
                  <a:srgbClr val="71FFDD"/>
                </a:solidFill>
              </a:rPr>
              <a:t>//</a:t>
            </a:r>
            <a:r>
              <a:rPr sz="9466" spc="-520" dirty="0">
                <a:solidFill>
                  <a:srgbClr val="71FFFF"/>
                </a:solidFill>
              </a:rPr>
              <a:t>&gt;</a:t>
            </a:r>
            <a:endParaRPr sz="9466"/>
          </a:p>
        </p:txBody>
      </p:sp>
      <p:sp>
        <p:nvSpPr>
          <p:cNvPr id="6" name="object 6">
            <a:extLst>
              <a:ext uri="{FF2B5EF4-FFF2-40B4-BE49-F238E27FC236}">
                <a16:creationId xmlns:a16="http://schemas.microsoft.com/office/drawing/2014/main" id="{BB932AD6-2CA2-AA11-1528-6C7D97E39CDF}"/>
              </a:ext>
            </a:extLst>
          </p:cNvPr>
          <p:cNvSpPr txBox="1"/>
          <p:nvPr/>
        </p:nvSpPr>
        <p:spPr>
          <a:xfrm>
            <a:off x="4666827" y="3237991"/>
            <a:ext cx="2953173" cy="344475"/>
          </a:xfrm>
          <a:prstGeom prst="rect">
            <a:avLst/>
          </a:prstGeom>
        </p:spPr>
        <p:txBody>
          <a:bodyPr vert="horz" wrap="square" lIns="0" tIns="16087" rIns="0" bIns="0" rtlCol="0">
            <a:spAutoFit/>
          </a:bodyPr>
          <a:lstStyle/>
          <a:p>
            <a:pPr marL="16933" defTabSz="1219170">
              <a:spcBef>
                <a:spcPts val="127"/>
              </a:spcBef>
            </a:pPr>
            <a:r>
              <a:rPr sz="2133" kern="0" spc="-13" dirty="0">
                <a:solidFill>
                  <a:srgbClr val="FFFFFF"/>
                </a:solidFill>
                <a:latin typeface="Arial" panose="020B0604020202020204" pitchFamily="34" charset="0"/>
                <a:cs typeface="Arial" panose="020B0604020202020204" pitchFamily="34" charset="0"/>
                <a:hlinkClick r:id="rId6"/>
              </a:rPr>
              <a:t>kaan@kaanarslan.com</a:t>
            </a:r>
            <a:endParaRPr sz="2133" kern="0" dirty="0">
              <a:solidFill>
                <a:sysClr val="windowText" lastClr="000000"/>
              </a:solidFill>
              <a:latin typeface="Arial" panose="020B0604020202020204" pitchFamily="34" charset="0"/>
              <a:cs typeface="Arial" panose="020B0604020202020204" pitchFamily="34" charset="0"/>
            </a:endParaRPr>
          </a:p>
        </p:txBody>
      </p:sp>
      <p:sp>
        <p:nvSpPr>
          <p:cNvPr id="7" name="object 7">
            <a:extLst>
              <a:ext uri="{FF2B5EF4-FFF2-40B4-BE49-F238E27FC236}">
                <a16:creationId xmlns:a16="http://schemas.microsoft.com/office/drawing/2014/main" id="{6DE808E0-D6D2-4A28-060F-15CC4000C646}"/>
              </a:ext>
            </a:extLst>
          </p:cNvPr>
          <p:cNvSpPr txBox="1"/>
          <p:nvPr/>
        </p:nvSpPr>
        <p:spPr>
          <a:xfrm>
            <a:off x="10850402" y="3425613"/>
            <a:ext cx="307777" cy="2848187"/>
          </a:xfrm>
          <a:prstGeom prst="rect">
            <a:avLst/>
          </a:prstGeom>
        </p:spPr>
        <p:txBody>
          <a:bodyPr vert="vert" wrap="square" lIns="0" tIns="0" rIns="0" bIns="0" rtlCol="0">
            <a:spAutoFit/>
          </a:bodyPr>
          <a:lstStyle/>
          <a:p>
            <a:pPr marL="16933" defTabSz="1219170">
              <a:lnSpc>
                <a:spcPts val="2385"/>
              </a:lnSpc>
            </a:pPr>
            <a:r>
              <a:rPr sz="2133" kern="0" spc="-13" dirty="0">
                <a:solidFill>
                  <a:srgbClr val="71FFDD"/>
                </a:solidFill>
                <a:latin typeface="Arial" panose="020B0604020202020204" pitchFamily="34" charset="0"/>
                <a:cs typeface="Arial" panose="020B0604020202020204" pitchFamily="34" charset="0"/>
                <a:hlinkClick r:id="rId6"/>
              </a:rPr>
              <a:t>kaan@kaanarslan.com</a:t>
            </a:r>
            <a:endParaRPr sz="2133" kern="0" dirty="0">
              <a:solidFill>
                <a:sysClr val="windowText" lastClr="00000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098BFD2-E5D2-B333-DB24-945E836109A5}"/>
              </a:ext>
            </a:extLst>
          </p:cNvPr>
          <p:cNvSpPr txBox="1"/>
          <p:nvPr/>
        </p:nvSpPr>
        <p:spPr>
          <a:xfrm>
            <a:off x="4666827" y="3779375"/>
            <a:ext cx="4024205" cy="379656"/>
          </a:xfrm>
          <a:prstGeom prst="rect">
            <a:avLst/>
          </a:prstGeom>
          <a:noFill/>
        </p:spPr>
        <p:txBody>
          <a:bodyPr wrap="square" rtlCol="0">
            <a:spAutoFit/>
          </a:bodyPr>
          <a:lstStyle/>
          <a:p>
            <a:pPr defTabSz="1219170"/>
            <a:r>
              <a:rPr lang="tr-TR" sz="1867" kern="0" dirty="0" err="1">
                <a:solidFill>
                  <a:srgbClr val="FFFF00"/>
                </a:solidFill>
                <a:hlinkClick r:id="rId7"/>
              </a:rPr>
              <a:t>Github</a:t>
            </a:r>
            <a:r>
              <a:rPr lang="tr-TR" sz="1867" kern="0" dirty="0">
                <a:solidFill>
                  <a:srgbClr val="FFFF00"/>
                </a:solidFill>
              </a:rPr>
              <a:t> &amp; </a:t>
            </a:r>
            <a:r>
              <a:rPr lang="tr-TR" sz="1867" kern="0" dirty="0" err="1">
                <a:solidFill>
                  <a:srgbClr val="FFFF00"/>
                </a:solidFill>
                <a:hlinkClick r:id="rId8"/>
              </a:rPr>
              <a:t>Tableau</a:t>
            </a:r>
            <a:r>
              <a:rPr lang="tr-TR" sz="1867" kern="0" dirty="0">
                <a:solidFill>
                  <a:srgbClr val="FFFF00"/>
                </a:solidFill>
                <a:hlinkClick r:id="rId8"/>
              </a:rPr>
              <a:t> </a:t>
            </a:r>
            <a:r>
              <a:rPr lang="tr-TR" sz="1867" kern="0" dirty="0" err="1">
                <a:solidFill>
                  <a:srgbClr val="FFFF00"/>
                </a:solidFill>
                <a:hlinkClick r:id="rId8"/>
              </a:rPr>
              <a:t>public</a:t>
            </a:r>
            <a:endParaRPr lang="en-US" sz="1867" kern="0" dirty="0">
              <a:solidFill>
                <a:srgbClr val="FFFF00"/>
              </a:solidFill>
            </a:endParaRPr>
          </a:p>
        </p:txBody>
      </p:sp>
    </p:spTree>
    <p:extLst>
      <p:ext uri="{BB962C8B-B14F-4D97-AF65-F5344CB8AC3E}">
        <p14:creationId xmlns:p14="http://schemas.microsoft.com/office/powerpoint/2010/main" val="3860149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897</Words>
  <Application>Microsoft Office PowerPoint</Application>
  <PresentationFormat>Widescreen</PresentationFormat>
  <Paragraphs>74</Paragraphs>
  <Slides>11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SimSun-ExtB</vt:lpstr>
      <vt:lpstr>Arial</vt:lpstr>
      <vt:lpstr>Calibri</vt:lpstr>
      <vt:lpstr>Calibri Light</vt:lpstr>
      <vt:lpstr>Tahoma</vt:lpstr>
      <vt:lpstr>Trebuchet MS</vt:lpstr>
      <vt:lpstr>Wingdings</vt:lpstr>
      <vt:lpstr>Office Theme</vt:lpstr>
      <vt:lpstr>1_Office Theme</vt:lpstr>
      <vt:lpstr>Weather Conditions and Climate Change with ClimateWins</vt:lpstr>
      <vt:lpstr>Weather Conditions and Climate Change with ClimateWins</vt:lpstr>
      <vt:lpstr>Weather Conditions and Climate Change with ClimateWins</vt:lpstr>
      <vt:lpstr>Weather Conditions and Climate Change with ClimateWins</vt:lpstr>
      <vt:lpstr>Data optimization</vt:lpstr>
      <vt:lpstr>Alghorithm 1: K-nearest neighbour (KNN)</vt:lpstr>
      <vt:lpstr>Alghorithm 2: Decision Tree</vt:lpstr>
      <vt:lpstr>Alghorithm 3: Artifical neural network (ANN)</vt:lpstr>
      <vt:lpstr>Next steps </vt:lpstr>
      <vt:lpstr>Summary </vt:lpstr>
      <vt:lpstr>&lt;//Contact//&gt;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Akın</dc:creator>
  <cp:lastModifiedBy>Akın</cp:lastModifiedBy>
  <cp:revision>2</cp:revision>
  <dcterms:created xsi:type="dcterms:W3CDTF">2025-11-17T13:32:56Z</dcterms:created>
  <dcterms:modified xsi:type="dcterms:W3CDTF">2025-11-17T13:34:35Z</dcterms:modified>
</cp:coreProperties>
</file>